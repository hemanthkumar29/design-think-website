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4630400" cy="8229600"/>
  <p:notesSz cx="8229600" cy="14630400"/>
  <p:embeddedFontLst>
    <p:embeddedFont>
      <p:font typeface="Georgia" panose="02040502050405020303" pitchFamily="18" charset="0"/>
      <p:regular r:id="rId17"/>
      <p:bold r:id="rId18"/>
      <p:italic r:id="rId19"/>
      <p:boldItalic r:id="rId20"/>
    </p:embeddedFont>
    <p:embeddedFont>
      <p:font typeface="Inter" panose="020B0604020202020204" charset="0"/>
      <p:regular r:id="rId21"/>
      <p:bold r:id="rId22"/>
      <p:italic r:id="rId23"/>
      <p:boldItalic r:id="rId24"/>
    </p:embeddedFont>
    <p:embeddedFont>
      <p:font typeface="Petrona" panose="020B0604020202020204" charset="0"/>
      <p:regular r:id="rId25"/>
      <p:bold r:id="rId26"/>
      <p:italic r:id="rId27"/>
      <p:boldItalic r:id="rId2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5" d="100"/>
          <a:sy n="65" d="100"/>
        </p:scale>
        <p:origin x="830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font" Target="fonts/font12.fntdata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font" Target="fonts/font11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3" name="Google Shape;5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4" name="Google Shape;5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" name="Google Shape;6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62" name="Google Shape;62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1" name="Google Shape;71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72" name="Google Shape;72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2" name="Google Shape;92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2" name="Google Shape;102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7" name="Google Shape;117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8" name="Google Shape;118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9" name="Google Shape;129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30" name="Google Shape;130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8" name="Google Shape;138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39" name="Google Shape;139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2" name="Google Shape;162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63" name="Google Shape;163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6abf2bd8c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36abf2bd8ce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g36abf2bd8ce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83" name="Google Shape;183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36abf2bd8ce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3" name="Google Shape;203;g36abf2bd8ce_0_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g36abf2bd8ce_0_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0" name="Google Shape;210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11" name="Google Shape;211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574de616f1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3574de616f1_0_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g3574de616f1_0_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1 master">
  <p:cSld name="Slide 1 master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2" descr="preencoded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4630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7450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" name="Google Shape;13;p2" descr="preencoded.png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2 master">
  <p:cSld name="Slide 2 master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oogle Shape;15;p3" descr="preencoded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4630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7450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3" descr="preencoded.png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3 master">
  <p:cSld name="Slide 3 master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oogle Shape;19;p4" descr="preencoded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4630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4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7450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" name="Google Shape;21;p4" descr="preencoded.png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4 master">
  <p:cSld name="Slide 4 master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5" descr="preencoded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4630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7450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5" name="Google Shape;25;p5" descr="preencoded.png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5 master">
  <p:cSld name="Slide 5 master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6" descr="preencoded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4630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6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7450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9" name="Google Shape;29;p6" descr="preencoded.png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6 master">
  <p:cSld name="Slide 6 master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oogle Shape;31;p7" descr="preencoded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4630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7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7450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7" descr="preencoded.png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7 master">
  <p:cSld name="Slide 7 master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Google Shape;35;p8" descr="preencoded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4630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Google Shape;36;p8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7450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7" name="Google Shape;37;p8" descr="preencoded.png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8 master">
  <p:cSld name="Slide 8 master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39;p9" descr="preencoded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4630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Google Shape;40;p9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7450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1" name="Google Shape;41;p9" descr="preencoded.png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9 master">
  <p:cSld name="Slide 9 master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Google Shape;43;p10" descr="preencoded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4630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" name="Google Shape;44;p1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7450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5" name="Google Shape;45;p10" descr="preencoded.png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10 master">
  <p:cSld name="Slide 10 master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 descr="preencoded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4630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1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7450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9" name="Google Shape;49;p11" descr="preencoded.png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0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3"/>
          <p:cNvSpPr txBox="1"/>
          <p:nvPr/>
        </p:nvSpPr>
        <p:spPr>
          <a:xfrm>
            <a:off x="1328750" y="1542700"/>
            <a:ext cx="6172200" cy="180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2580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650"/>
              <a:buFont typeface="Arial"/>
              <a:buNone/>
            </a:pPr>
            <a:r>
              <a:rPr lang="en-US" sz="4650" b="1" i="0" u="none" strike="noStrike" cap="none">
                <a:solidFill>
                  <a:schemeClr val="dk1"/>
                </a:solidFill>
                <a:latin typeface="Petrona"/>
                <a:ea typeface="Petrona"/>
                <a:cs typeface="Petrona"/>
                <a:sym typeface="Petrona"/>
              </a:rPr>
              <a:t>DESIGN THINKING AND INNOVATION</a:t>
            </a:r>
            <a:endParaRPr sz="46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1328750" y="4117175"/>
            <a:ext cx="3748200" cy="265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US" sz="2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Presented by: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US" sz="2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 PUJITHA - 23KD1A0222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US" sz="2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MAHARSHI - 23KD1A0203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US" sz="2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 KALI -23KD1A0263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US" sz="2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 TEJA KRISHNA-23KD1A0229</a:t>
            </a:r>
            <a:endParaRPr sz="2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8" name="Google Shape;58;p13" title="istockphoto-624695614-612x612.jpg"/>
          <p:cNvPicPr preferRelativeResize="0"/>
          <p:nvPr/>
        </p:nvPicPr>
        <p:blipFill rotWithShape="1">
          <a:blip r:embed="rId3">
            <a:alphaModFix/>
          </a:blip>
          <a:srcRect l="3541" r="39611"/>
          <a:stretch/>
        </p:blipFill>
        <p:spPr>
          <a:xfrm>
            <a:off x="7500950" y="0"/>
            <a:ext cx="7122100" cy="8229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Google Shape;64;p14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5486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14"/>
          <p:cNvSpPr/>
          <p:nvPr/>
        </p:nvSpPr>
        <p:spPr>
          <a:xfrm>
            <a:off x="6280190" y="1957983"/>
            <a:ext cx="7556421" cy="2232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80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650"/>
              <a:buFont typeface="Petrona"/>
              <a:buNone/>
            </a:pPr>
            <a:r>
              <a:rPr lang="en-US" sz="4650" b="1" i="0" u="none" strike="noStrike" cap="none">
                <a:solidFill>
                  <a:srgbClr val="000000"/>
                </a:solidFill>
                <a:latin typeface="Petrona"/>
                <a:ea typeface="Petrona"/>
                <a:cs typeface="Petrona"/>
                <a:sym typeface="Petrona"/>
              </a:rPr>
              <a:t>IOT BASED BATTERY MONITORING SYSTEM USING ESP8266 ARDUINO</a:t>
            </a:r>
            <a:endParaRPr sz="465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p14"/>
          <p:cNvSpPr/>
          <p:nvPr/>
        </p:nvSpPr>
        <p:spPr>
          <a:xfrm>
            <a:off x="6280200" y="4530927"/>
            <a:ext cx="7556400" cy="223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50"/>
              <a:buFont typeface="Inter"/>
              <a:buNone/>
            </a:pPr>
            <a:endParaRPr sz="1750">
              <a:solidFill>
                <a:srgbClr val="272525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50"/>
              <a:buFont typeface="Inter"/>
              <a:buNone/>
            </a:pPr>
            <a:r>
              <a:rPr lang="en-US" sz="1750" b="0" i="0" u="none" strike="noStrike" cap="non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Under the Guidance of: </a:t>
            </a:r>
            <a:endParaRPr sz="1750" b="0" i="0" u="none" strike="noStrike" cap="none">
              <a:solidFill>
                <a:srgbClr val="272525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50"/>
              <a:buFont typeface="Inter"/>
              <a:buNone/>
            </a:pPr>
            <a:r>
              <a:rPr lang="en-US" sz="2000" b="1">
                <a:solidFill>
                  <a:schemeClr val="dk1"/>
                </a:solidFill>
              </a:rPr>
              <a:t>Mr.B.Ram Vara prasad (Ph.D)</a:t>
            </a:r>
            <a:endParaRPr sz="700" b="1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2000" b="1">
                <a:solidFill>
                  <a:schemeClr val="dk1"/>
                </a:solidFill>
              </a:rPr>
              <a:t>Assistant Professor</a:t>
            </a:r>
            <a:endParaRPr sz="2000" b="1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2000" b="1">
                <a:solidFill>
                  <a:schemeClr val="dk1"/>
                </a:solidFill>
              </a:rPr>
              <a:t>Department of EEE</a:t>
            </a:r>
            <a:endParaRPr sz="2000" b="1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2000" b="1">
                <a:solidFill>
                  <a:schemeClr val="dk1"/>
                </a:solidFill>
              </a:rPr>
              <a:t>LIET</a:t>
            </a:r>
            <a:endParaRPr sz="700" b="1">
              <a:solidFill>
                <a:schemeClr val="dk1"/>
              </a:solidFill>
            </a:endParaRPr>
          </a:p>
        </p:txBody>
      </p:sp>
      <p:sp>
        <p:nvSpPr>
          <p:cNvPr id="67" name="Google Shape;67;p14"/>
          <p:cNvSpPr/>
          <p:nvPr/>
        </p:nvSpPr>
        <p:spPr>
          <a:xfrm>
            <a:off x="6280190" y="5891689"/>
            <a:ext cx="362903" cy="362903"/>
          </a:xfrm>
          <a:prstGeom prst="roundRect">
            <a:avLst>
              <a:gd name="adj" fmla="val 25194296"/>
            </a:avLst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8" name="Google Shape;68;p14" title="Screenshot (639)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397100" y="7664300"/>
            <a:ext cx="2233301" cy="565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Google Shape;74;p15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5486400" cy="8234720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p15"/>
          <p:cNvSpPr/>
          <p:nvPr/>
        </p:nvSpPr>
        <p:spPr>
          <a:xfrm>
            <a:off x="6234470" y="587812"/>
            <a:ext cx="5611297" cy="701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Petrona"/>
              <a:buNone/>
            </a:pPr>
            <a:r>
              <a:rPr lang="en-US" sz="4400" b="1" i="0" u="none" strike="noStrike" cap="none">
                <a:solidFill>
                  <a:srgbClr val="000000"/>
                </a:solidFill>
                <a:latin typeface="Petrona"/>
                <a:ea typeface="Petrona"/>
                <a:cs typeface="Petrona"/>
                <a:sym typeface="Petrona"/>
              </a:rPr>
              <a:t>Contents Overview</a:t>
            </a:r>
            <a:endParaRPr sz="4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5"/>
          <p:cNvSpPr/>
          <p:nvPr/>
        </p:nvSpPr>
        <p:spPr>
          <a:xfrm>
            <a:off x="6234470" y="1609844"/>
            <a:ext cx="7647861" cy="1605439"/>
          </a:xfrm>
          <a:prstGeom prst="roundRect">
            <a:avLst>
              <a:gd name="adj" fmla="val 5592"/>
            </a:avLst>
          </a:prstGeom>
          <a:solidFill>
            <a:srgbClr val="CCEEFF"/>
          </a:solidFill>
          <a:ln w="9525" cap="flat" cmpd="sng">
            <a:solidFill>
              <a:srgbClr val="B2D4E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p15"/>
          <p:cNvSpPr/>
          <p:nvPr/>
        </p:nvSpPr>
        <p:spPr>
          <a:xfrm>
            <a:off x="6455807" y="1831181"/>
            <a:ext cx="3089077" cy="3506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2200"/>
              <a:buFont typeface="Petrona"/>
              <a:buNone/>
            </a:pPr>
            <a:r>
              <a:rPr lang="en-US" sz="2200" b="1" i="0" u="none" strike="noStrike" cap="none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Introduction &amp; Problem</a:t>
            </a:r>
            <a:endParaRPr sz="2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5"/>
          <p:cNvSpPr/>
          <p:nvPr/>
        </p:nvSpPr>
        <p:spPr>
          <a:xfrm>
            <a:off x="6455807" y="2310051"/>
            <a:ext cx="7205186" cy="683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606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650"/>
              <a:buFont typeface="Inter"/>
              <a:buNone/>
            </a:pPr>
            <a:r>
              <a:rPr lang="en-US" sz="1650" b="0" i="0" u="none" strike="noStrike" cap="non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Exploring IoT fundamentals and challenges in battery health monitoring.</a:t>
            </a:r>
            <a:endParaRPr sz="165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5"/>
          <p:cNvSpPr/>
          <p:nvPr/>
        </p:nvSpPr>
        <p:spPr>
          <a:xfrm>
            <a:off x="6234470" y="3429000"/>
            <a:ext cx="7647861" cy="1263491"/>
          </a:xfrm>
          <a:prstGeom prst="roundRect">
            <a:avLst>
              <a:gd name="adj" fmla="val 7106"/>
            </a:avLst>
          </a:prstGeom>
          <a:solidFill>
            <a:srgbClr val="CCEEFF"/>
          </a:solidFill>
          <a:ln w="9525" cap="flat" cmpd="sng">
            <a:solidFill>
              <a:srgbClr val="B2D4E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15"/>
          <p:cNvSpPr/>
          <p:nvPr/>
        </p:nvSpPr>
        <p:spPr>
          <a:xfrm>
            <a:off x="6455807" y="3650337"/>
            <a:ext cx="2805589" cy="3506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2200"/>
              <a:buFont typeface="Petrona"/>
              <a:buNone/>
            </a:pPr>
            <a:r>
              <a:rPr lang="en-US" sz="2200" b="1" i="0" u="none" strike="noStrike" cap="none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Design Thinking</a:t>
            </a:r>
            <a:endParaRPr sz="2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5"/>
          <p:cNvSpPr/>
          <p:nvPr/>
        </p:nvSpPr>
        <p:spPr>
          <a:xfrm>
            <a:off x="6455807" y="4129207"/>
            <a:ext cx="7205186" cy="3419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606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650"/>
              <a:buFont typeface="Inter"/>
              <a:buNone/>
            </a:pPr>
            <a:r>
              <a:rPr lang="en-US" sz="1650" b="0" i="0" u="none" strike="noStrike" cap="non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Empathy, Define, and Ideate phases to frame the solution.</a:t>
            </a:r>
            <a:endParaRPr sz="165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15"/>
          <p:cNvSpPr/>
          <p:nvPr/>
        </p:nvSpPr>
        <p:spPr>
          <a:xfrm>
            <a:off x="6234470" y="4906208"/>
            <a:ext cx="7647861" cy="1263491"/>
          </a:xfrm>
          <a:prstGeom prst="roundRect">
            <a:avLst>
              <a:gd name="adj" fmla="val 7106"/>
            </a:avLst>
          </a:prstGeom>
          <a:solidFill>
            <a:srgbClr val="CCEEFF"/>
          </a:solidFill>
          <a:ln w="9525" cap="flat" cmpd="sng">
            <a:solidFill>
              <a:srgbClr val="B2D4E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15"/>
          <p:cNvSpPr/>
          <p:nvPr/>
        </p:nvSpPr>
        <p:spPr>
          <a:xfrm>
            <a:off x="6455807" y="5127546"/>
            <a:ext cx="2866192" cy="3506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2200"/>
              <a:buFont typeface="Petrona"/>
              <a:buNone/>
            </a:pPr>
            <a:r>
              <a:rPr lang="en-US" sz="2200" b="1" i="0" u="none" strike="noStrike" cap="none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Solution Development</a:t>
            </a:r>
            <a:endParaRPr sz="2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15"/>
          <p:cNvSpPr/>
          <p:nvPr/>
        </p:nvSpPr>
        <p:spPr>
          <a:xfrm>
            <a:off x="6455807" y="5606415"/>
            <a:ext cx="7205186" cy="3419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606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650"/>
              <a:buFont typeface="Inter"/>
              <a:buNone/>
            </a:pPr>
            <a:r>
              <a:rPr lang="en-US" sz="1650" b="0" i="0" u="none" strike="noStrike" cap="non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Storyboarding, prototyping, and system demonstration steps.</a:t>
            </a:r>
            <a:endParaRPr sz="165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15"/>
          <p:cNvSpPr/>
          <p:nvPr/>
        </p:nvSpPr>
        <p:spPr>
          <a:xfrm>
            <a:off x="6234470" y="6383417"/>
            <a:ext cx="7647861" cy="1263491"/>
          </a:xfrm>
          <a:prstGeom prst="roundRect">
            <a:avLst>
              <a:gd name="adj" fmla="val 7106"/>
            </a:avLst>
          </a:prstGeom>
          <a:solidFill>
            <a:srgbClr val="CCEEFF"/>
          </a:solidFill>
          <a:ln w="9525" cap="flat" cmpd="sng">
            <a:solidFill>
              <a:srgbClr val="B2D4E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5"/>
          <p:cNvSpPr/>
          <p:nvPr/>
        </p:nvSpPr>
        <p:spPr>
          <a:xfrm>
            <a:off x="6455807" y="6604754"/>
            <a:ext cx="2807851" cy="3506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2200"/>
              <a:buFont typeface="Petrona"/>
              <a:buNone/>
            </a:pPr>
            <a:r>
              <a:rPr lang="en-US" sz="2200" b="1" i="0" u="none" strike="noStrike" cap="none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Conclusion &amp; Contact</a:t>
            </a:r>
            <a:endParaRPr sz="2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15"/>
          <p:cNvSpPr/>
          <p:nvPr/>
        </p:nvSpPr>
        <p:spPr>
          <a:xfrm>
            <a:off x="6455807" y="7083623"/>
            <a:ext cx="7205186" cy="3419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606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650"/>
              <a:buFont typeface="Inter"/>
              <a:buNone/>
            </a:pPr>
            <a:r>
              <a:rPr lang="en-US" sz="1650" b="0" i="0" u="none" strike="noStrike" cap="non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Insights, future enhancements, and ways to connect.</a:t>
            </a:r>
            <a:endParaRPr sz="165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8" name="Google Shape;88;p15" title="Screenshot (639)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781225" y="7761525"/>
            <a:ext cx="1849174" cy="468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6"/>
          <p:cNvSpPr/>
          <p:nvPr/>
        </p:nvSpPr>
        <p:spPr>
          <a:xfrm>
            <a:off x="793790" y="1996321"/>
            <a:ext cx="11221641" cy="744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80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650"/>
              <a:buFont typeface="Petrona"/>
              <a:buNone/>
            </a:pPr>
            <a:r>
              <a:rPr lang="en-US" sz="4650" b="1" i="0" u="none" strike="noStrike" cap="none">
                <a:solidFill>
                  <a:srgbClr val="000000"/>
                </a:solidFill>
                <a:latin typeface="Petrona"/>
                <a:ea typeface="Petrona"/>
                <a:cs typeface="Petrona"/>
                <a:sym typeface="Petrona"/>
              </a:rPr>
              <a:t>Introduction to IoT &amp; Battery Monitoring</a:t>
            </a:r>
            <a:endParaRPr sz="465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16"/>
          <p:cNvSpPr/>
          <p:nvPr/>
        </p:nvSpPr>
        <p:spPr>
          <a:xfrm>
            <a:off x="793790" y="3284815"/>
            <a:ext cx="6244709" cy="145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50"/>
              <a:buFont typeface="Inter"/>
              <a:buNone/>
            </a:pPr>
            <a:r>
              <a:rPr lang="en-US" sz="1750" b="0" i="0" u="none" strike="noStrike" cap="non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The Internet of Things (IoT) enables interconnected devices to monitor and manage data efficiently. Battery systems are critical in providing backup power for many applications.</a:t>
            </a:r>
            <a:endParaRPr sz="175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6"/>
          <p:cNvSpPr/>
          <p:nvPr/>
        </p:nvSpPr>
        <p:spPr>
          <a:xfrm>
            <a:off x="793790" y="4940498"/>
            <a:ext cx="6244709" cy="10887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50"/>
              <a:buFont typeface="Inter"/>
              <a:buNone/>
            </a:pPr>
            <a:r>
              <a:rPr lang="en-US" sz="1750" b="0" i="0" u="none" strike="noStrike" cap="non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IoT-based battery monitoring systems track vital parameters such as voltage and state of health, sending real-time updates to users for timely interventions.</a:t>
            </a:r>
            <a:endParaRPr sz="175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6"/>
          <p:cNvSpPr/>
          <p:nvPr/>
        </p:nvSpPr>
        <p:spPr>
          <a:xfrm>
            <a:off x="7599521" y="3284815"/>
            <a:ext cx="6244709" cy="10887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50"/>
              <a:buFont typeface="Inter"/>
              <a:buNone/>
            </a:pPr>
            <a:r>
              <a:rPr lang="en-US" sz="1750" b="0" i="0" u="none" strike="noStrike" cap="non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The ESP8266 microcontroller is widely used due to its low cost and integrated Wi-Fi capability, making it ideal for implementing wireless battery monitoring solutions.</a:t>
            </a:r>
            <a:endParaRPr sz="175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8" name="Google Shape;98;p16" title="Screenshot (639)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397100" y="7664300"/>
            <a:ext cx="2233301" cy="565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Google Shape;104;p17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144000" y="0"/>
            <a:ext cx="5486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7"/>
          <p:cNvSpPr/>
          <p:nvPr/>
        </p:nvSpPr>
        <p:spPr>
          <a:xfrm>
            <a:off x="793790" y="1239679"/>
            <a:ext cx="5954197" cy="744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80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650"/>
              <a:buFont typeface="Petrona"/>
              <a:buNone/>
            </a:pPr>
            <a:r>
              <a:rPr lang="en-US" sz="4650" b="1" i="0" u="none" strike="noStrike" cap="none">
                <a:solidFill>
                  <a:srgbClr val="000000"/>
                </a:solidFill>
                <a:latin typeface="Petrona"/>
                <a:ea typeface="Petrona"/>
                <a:cs typeface="Petrona"/>
                <a:sym typeface="Petrona"/>
              </a:rPr>
              <a:t>Problem Statement</a:t>
            </a:r>
            <a:endParaRPr sz="465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17"/>
          <p:cNvSpPr/>
          <p:nvPr/>
        </p:nvSpPr>
        <p:spPr>
          <a:xfrm>
            <a:off x="793790" y="2579251"/>
            <a:ext cx="510302" cy="510302"/>
          </a:xfrm>
          <a:prstGeom prst="roundRect">
            <a:avLst>
              <a:gd name="adj" fmla="val 18669"/>
            </a:avLst>
          </a:prstGeom>
          <a:solidFill>
            <a:srgbClr val="CCEEFF"/>
          </a:solidFill>
          <a:ln w="9525" cap="flat" cmpd="sng">
            <a:solidFill>
              <a:srgbClr val="B2D4E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17"/>
          <p:cNvSpPr/>
          <p:nvPr/>
        </p:nvSpPr>
        <p:spPr>
          <a:xfrm>
            <a:off x="1530906" y="2579251"/>
            <a:ext cx="2927747" cy="7441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6086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2300"/>
              <a:buFont typeface="Petrona"/>
              <a:buNone/>
            </a:pPr>
            <a:r>
              <a:rPr lang="en-US" sz="2300" b="1" i="0" u="none" strike="noStrike" cap="none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Manual Checks Are Unreliable</a:t>
            </a:r>
            <a:endParaRPr sz="23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17"/>
          <p:cNvSpPr/>
          <p:nvPr/>
        </p:nvSpPr>
        <p:spPr>
          <a:xfrm>
            <a:off x="1530906" y="3459480"/>
            <a:ext cx="2927747" cy="18145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50"/>
              <a:buFont typeface="Inter"/>
              <a:buNone/>
            </a:pPr>
            <a:r>
              <a:rPr lang="en-US" sz="1750" b="0" i="0" u="none" strike="noStrike" cap="non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Periodic physical monitoring can miss critical battery conditions leading to unnoticed damage.</a:t>
            </a:r>
            <a:endParaRPr sz="175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17"/>
          <p:cNvSpPr/>
          <p:nvPr/>
        </p:nvSpPr>
        <p:spPr>
          <a:xfrm>
            <a:off x="4685467" y="2579251"/>
            <a:ext cx="510302" cy="510302"/>
          </a:xfrm>
          <a:prstGeom prst="roundRect">
            <a:avLst>
              <a:gd name="adj" fmla="val 18669"/>
            </a:avLst>
          </a:prstGeom>
          <a:solidFill>
            <a:srgbClr val="CCEEFF"/>
          </a:solidFill>
          <a:ln w="9525" cap="flat" cmpd="sng">
            <a:solidFill>
              <a:srgbClr val="B2D4E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17"/>
          <p:cNvSpPr/>
          <p:nvPr/>
        </p:nvSpPr>
        <p:spPr>
          <a:xfrm>
            <a:off x="5422583" y="2579251"/>
            <a:ext cx="2927747" cy="7441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6086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2300"/>
              <a:buFont typeface="Petrona"/>
              <a:buNone/>
            </a:pPr>
            <a:r>
              <a:rPr lang="en-US" sz="2300" b="1" i="0" u="none" strike="noStrike" cap="none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Unexpected Downtime</a:t>
            </a:r>
            <a:endParaRPr sz="23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17"/>
          <p:cNvSpPr/>
          <p:nvPr/>
        </p:nvSpPr>
        <p:spPr>
          <a:xfrm>
            <a:off x="5422583" y="3459480"/>
            <a:ext cx="2927747" cy="145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50"/>
              <a:buFont typeface="Inter"/>
              <a:buNone/>
            </a:pPr>
            <a:r>
              <a:rPr lang="en-US" sz="1750" b="0" i="0" u="none" strike="noStrike" cap="non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Battery failures often cause sudden power loss, adversely impacting operations.</a:t>
            </a:r>
            <a:endParaRPr sz="175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17"/>
          <p:cNvSpPr/>
          <p:nvPr/>
        </p:nvSpPr>
        <p:spPr>
          <a:xfrm>
            <a:off x="793790" y="5755958"/>
            <a:ext cx="510302" cy="510302"/>
          </a:xfrm>
          <a:prstGeom prst="roundRect">
            <a:avLst>
              <a:gd name="adj" fmla="val 18669"/>
            </a:avLst>
          </a:prstGeom>
          <a:solidFill>
            <a:srgbClr val="CCEEFF"/>
          </a:solidFill>
          <a:ln w="9525" cap="flat" cmpd="sng">
            <a:solidFill>
              <a:srgbClr val="B2D4E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17"/>
          <p:cNvSpPr/>
          <p:nvPr/>
        </p:nvSpPr>
        <p:spPr>
          <a:xfrm>
            <a:off x="1530906" y="5755958"/>
            <a:ext cx="2977039" cy="3720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6086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2300"/>
              <a:buFont typeface="Petrona"/>
              <a:buNone/>
            </a:pPr>
            <a:r>
              <a:rPr lang="en-US" sz="2300" b="1" i="0" u="none" strike="noStrike" cap="none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Need for Automation</a:t>
            </a:r>
            <a:endParaRPr sz="23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17"/>
          <p:cNvSpPr/>
          <p:nvPr/>
        </p:nvSpPr>
        <p:spPr>
          <a:xfrm>
            <a:off x="1530906" y="6264116"/>
            <a:ext cx="6819305" cy="7258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50"/>
              <a:buFont typeface="Inter"/>
              <a:buNone/>
            </a:pPr>
            <a:r>
              <a:rPr lang="en-US" sz="1750" b="0" i="0" u="none" strike="noStrike" cap="non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A remote, automated system is required for continuous, accurate monitoring to reduce human error.</a:t>
            </a:r>
            <a:endParaRPr sz="175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8"/>
          <p:cNvSpPr/>
          <p:nvPr/>
        </p:nvSpPr>
        <p:spPr>
          <a:xfrm>
            <a:off x="793790" y="2177772"/>
            <a:ext cx="9224963" cy="744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80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650"/>
              <a:buFont typeface="Petrona"/>
              <a:buNone/>
            </a:pPr>
            <a:r>
              <a:rPr lang="en-US" sz="4650" b="1" i="0" u="none" strike="noStrike" cap="none">
                <a:solidFill>
                  <a:srgbClr val="000000"/>
                </a:solidFill>
                <a:latin typeface="Petrona"/>
                <a:ea typeface="Petrona"/>
                <a:cs typeface="Petrona"/>
                <a:sym typeface="Petrona"/>
              </a:rPr>
              <a:t>Empathy: Understanding the User</a:t>
            </a:r>
            <a:endParaRPr sz="465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18"/>
          <p:cNvSpPr/>
          <p:nvPr/>
        </p:nvSpPr>
        <p:spPr>
          <a:xfrm>
            <a:off x="793790" y="3466267"/>
            <a:ext cx="6244709" cy="145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50"/>
              <a:buFont typeface="Inter"/>
              <a:buNone/>
            </a:pPr>
            <a:r>
              <a:rPr lang="en-US" sz="1750" b="0" i="0" u="none" strike="noStrike" cap="non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Applying the 5 WHY’s method reveals that the lack of continuous monitoring stems from dependence on manual checks, which are time-consuming and prone to error.</a:t>
            </a:r>
            <a:endParaRPr sz="175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18"/>
          <p:cNvSpPr/>
          <p:nvPr/>
        </p:nvSpPr>
        <p:spPr>
          <a:xfrm>
            <a:off x="793790" y="5121950"/>
            <a:ext cx="6244709" cy="7258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50"/>
              <a:buFont typeface="Inter"/>
              <a:buNone/>
            </a:pPr>
            <a:r>
              <a:rPr lang="en-US" sz="1750" b="0" i="0" u="none" strike="noStrike" cap="non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Battery failures disrupt critical operations, impacting both safety and costs.</a:t>
            </a:r>
            <a:endParaRPr sz="175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18"/>
          <p:cNvSpPr/>
          <p:nvPr/>
        </p:nvSpPr>
        <p:spPr>
          <a:xfrm>
            <a:off x="7599521" y="3341489"/>
            <a:ext cx="6244709" cy="7258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marR="0" lvl="0" indent="-34290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50"/>
              <a:buFont typeface="Inter"/>
              <a:buChar char="•"/>
            </a:pPr>
            <a:r>
              <a:rPr lang="en-US" sz="1750" b="0" i="0" u="none" strike="noStrike" cap="non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Technician persona responsible for large battery arrays.</a:t>
            </a:r>
            <a:endParaRPr sz="175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18"/>
          <p:cNvSpPr/>
          <p:nvPr/>
        </p:nvSpPr>
        <p:spPr>
          <a:xfrm>
            <a:off x="7599521" y="4146590"/>
            <a:ext cx="6244709" cy="3629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marR="0" lvl="0" indent="-34290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50"/>
              <a:buFont typeface="Inter"/>
              <a:buChar char="•"/>
            </a:pPr>
            <a:r>
              <a:rPr lang="en-US" sz="1750" b="0" i="0" u="none" strike="noStrike" cap="non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Needs timely remote access to battery health data.</a:t>
            </a:r>
            <a:endParaRPr sz="175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18"/>
          <p:cNvSpPr/>
          <p:nvPr/>
        </p:nvSpPr>
        <p:spPr>
          <a:xfrm>
            <a:off x="7599521" y="4588788"/>
            <a:ext cx="6244709" cy="7258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marR="0" lvl="0" indent="-34290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50"/>
              <a:buFont typeface="Inter"/>
              <a:buChar char="•"/>
            </a:pPr>
            <a:r>
              <a:rPr lang="en-US" sz="1750" b="0" i="0" u="none" strike="noStrike" cap="non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Requires actionable alerts to enable prompt maintenance.</a:t>
            </a:r>
            <a:endParaRPr sz="175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6" name="Google Shape;126;p18" title="Screenshot (639)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397100" y="7664300"/>
            <a:ext cx="2233301" cy="565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19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144000" y="0"/>
            <a:ext cx="5486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19"/>
          <p:cNvSpPr/>
          <p:nvPr/>
        </p:nvSpPr>
        <p:spPr>
          <a:xfrm>
            <a:off x="793790" y="1984177"/>
            <a:ext cx="7556421" cy="1488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80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650"/>
              <a:buFont typeface="Petrona"/>
              <a:buNone/>
            </a:pPr>
            <a:r>
              <a:rPr lang="en-US" sz="4650" b="1" i="0" u="none" strike="noStrike" cap="none">
                <a:solidFill>
                  <a:srgbClr val="000000"/>
                </a:solidFill>
                <a:latin typeface="Petrona"/>
                <a:ea typeface="Petrona"/>
                <a:cs typeface="Petrona"/>
                <a:sym typeface="Petrona"/>
              </a:rPr>
              <a:t>Define: Point of View Statement</a:t>
            </a:r>
            <a:endParaRPr sz="465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19"/>
          <p:cNvSpPr/>
          <p:nvPr/>
        </p:nvSpPr>
        <p:spPr>
          <a:xfrm>
            <a:off x="793790" y="3812858"/>
            <a:ext cx="7556421" cy="10887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50"/>
              <a:buFont typeface="Inter"/>
              <a:buNone/>
            </a:pPr>
            <a:r>
              <a:rPr lang="en-US" sz="1750" b="1" i="0" u="none" strike="noStrike" cap="non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POV Statement:</a:t>
            </a:r>
            <a:r>
              <a:rPr lang="en-US" sz="1750" b="0" i="0" u="none" strike="noStrike" cap="non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 Battery maintenance technicians need a real-time monitoring system because manual checking is inefficient and can miss critical battery failures, causing costly downtime.</a:t>
            </a:r>
            <a:endParaRPr sz="175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19"/>
          <p:cNvSpPr/>
          <p:nvPr/>
        </p:nvSpPr>
        <p:spPr>
          <a:xfrm>
            <a:off x="793790" y="5156716"/>
            <a:ext cx="7556421" cy="10887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50"/>
              <a:buFont typeface="Inter"/>
              <a:buNone/>
            </a:pPr>
            <a:r>
              <a:rPr lang="en-US" sz="1750" b="0" i="0" u="none" strike="noStrike" cap="non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This insight focuses the design process on creating a solution that increases reliability, reduces manual effort, and supports proactive maintenance.</a:t>
            </a:r>
            <a:endParaRPr sz="175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20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5486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0"/>
          <p:cNvSpPr/>
          <p:nvPr/>
        </p:nvSpPr>
        <p:spPr>
          <a:xfrm>
            <a:off x="6213634" y="902256"/>
            <a:ext cx="7689533" cy="13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88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50"/>
              <a:buFont typeface="Petrona"/>
              <a:buNone/>
            </a:pPr>
            <a:r>
              <a:rPr lang="en-US" sz="4250" b="1" i="0" u="none" strike="noStrike" cap="none">
                <a:solidFill>
                  <a:srgbClr val="000000"/>
                </a:solidFill>
                <a:latin typeface="Petrona"/>
                <a:ea typeface="Petrona"/>
                <a:cs typeface="Petrona"/>
                <a:sym typeface="Petrona"/>
              </a:rPr>
              <a:t>Ideate: Solution Brainstorming</a:t>
            </a:r>
            <a:endParaRPr sz="425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20"/>
          <p:cNvSpPr/>
          <p:nvPr/>
        </p:nvSpPr>
        <p:spPr>
          <a:xfrm>
            <a:off x="6213634" y="2811066"/>
            <a:ext cx="467439" cy="467439"/>
          </a:xfrm>
          <a:prstGeom prst="roundRect">
            <a:avLst>
              <a:gd name="adj" fmla="val 18669"/>
            </a:avLst>
          </a:prstGeom>
          <a:solidFill>
            <a:srgbClr val="CCEEFF"/>
          </a:solidFill>
          <a:ln w="9525" cap="flat" cmpd="sng">
            <a:solidFill>
              <a:srgbClr val="B2D4E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0"/>
          <p:cNvSpPr/>
          <p:nvPr/>
        </p:nvSpPr>
        <p:spPr>
          <a:xfrm>
            <a:off x="6283762" y="2840295"/>
            <a:ext cx="327184" cy="408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2550"/>
              <a:buFont typeface="Petrona"/>
              <a:buNone/>
            </a:pPr>
            <a:r>
              <a:rPr lang="en-US" sz="2550" b="1" i="0" u="none" strike="noStrike" cap="none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1</a:t>
            </a:r>
            <a:endParaRPr sz="255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20"/>
          <p:cNvSpPr/>
          <p:nvPr/>
        </p:nvSpPr>
        <p:spPr>
          <a:xfrm>
            <a:off x="6888837" y="2811066"/>
            <a:ext cx="2727127" cy="3408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619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2100"/>
              <a:buFont typeface="Petrona"/>
              <a:buNone/>
            </a:pPr>
            <a:r>
              <a:rPr lang="en-US" sz="2100" b="1" i="0" u="none" strike="noStrike" cap="none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Sensor Integration</a:t>
            </a:r>
            <a:endParaRPr sz="2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20"/>
          <p:cNvSpPr/>
          <p:nvPr/>
        </p:nvSpPr>
        <p:spPr>
          <a:xfrm>
            <a:off x="6888837" y="3276600"/>
            <a:ext cx="7014329" cy="3324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600"/>
              <a:buFont typeface="Inter"/>
              <a:buNone/>
            </a:pPr>
            <a:r>
              <a:rPr lang="en-US" sz="1600" b="0" i="0" u="none" strike="noStrike" cap="non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Use voltage and current sensors to collect live battery data.</a:t>
            </a:r>
            <a:endParaRPr sz="16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20"/>
          <p:cNvSpPr/>
          <p:nvPr/>
        </p:nvSpPr>
        <p:spPr>
          <a:xfrm>
            <a:off x="6213634" y="4050506"/>
            <a:ext cx="467439" cy="467439"/>
          </a:xfrm>
          <a:prstGeom prst="roundRect">
            <a:avLst>
              <a:gd name="adj" fmla="val 18669"/>
            </a:avLst>
          </a:prstGeom>
          <a:solidFill>
            <a:srgbClr val="CCEEFF"/>
          </a:solidFill>
          <a:ln w="9525" cap="flat" cmpd="sng">
            <a:solidFill>
              <a:srgbClr val="B2D4E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20"/>
          <p:cNvSpPr/>
          <p:nvPr/>
        </p:nvSpPr>
        <p:spPr>
          <a:xfrm>
            <a:off x="6283762" y="4079736"/>
            <a:ext cx="327184" cy="408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2550"/>
              <a:buFont typeface="Petrona"/>
              <a:buNone/>
            </a:pPr>
            <a:r>
              <a:rPr lang="en-US" sz="2550" b="1" i="0" u="none" strike="noStrike" cap="none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2</a:t>
            </a:r>
            <a:endParaRPr sz="255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0"/>
          <p:cNvSpPr/>
          <p:nvPr/>
        </p:nvSpPr>
        <p:spPr>
          <a:xfrm>
            <a:off x="6888837" y="4050506"/>
            <a:ext cx="3192780" cy="3408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619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2100"/>
              <a:buFont typeface="Petrona"/>
              <a:buNone/>
            </a:pPr>
            <a:r>
              <a:rPr lang="en-US" sz="2100" b="1" i="0" u="none" strike="noStrike" cap="none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Wireless Communication</a:t>
            </a:r>
            <a:endParaRPr sz="2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Google Shape;150;p20"/>
          <p:cNvSpPr/>
          <p:nvPr/>
        </p:nvSpPr>
        <p:spPr>
          <a:xfrm>
            <a:off x="6888837" y="4516041"/>
            <a:ext cx="7014329" cy="3324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600"/>
              <a:buFont typeface="Inter"/>
              <a:buNone/>
            </a:pPr>
            <a:r>
              <a:rPr lang="en-US" sz="1600" b="0" i="0" u="none" strike="noStrike" cap="non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Leverage ESP8266 module for Wi-Fi enabled data transmission.</a:t>
            </a:r>
            <a:endParaRPr sz="16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p20"/>
          <p:cNvSpPr/>
          <p:nvPr/>
        </p:nvSpPr>
        <p:spPr>
          <a:xfrm>
            <a:off x="6213634" y="5289947"/>
            <a:ext cx="467439" cy="467439"/>
          </a:xfrm>
          <a:prstGeom prst="roundRect">
            <a:avLst>
              <a:gd name="adj" fmla="val 18669"/>
            </a:avLst>
          </a:prstGeom>
          <a:solidFill>
            <a:srgbClr val="CCEEFF"/>
          </a:solidFill>
          <a:ln w="9525" cap="flat" cmpd="sng">
            <a:solidFill>
              <a:srgbClr val="B2D4E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20"/>
          <p:cNvSpPr/>
          <p:nvPr/>
        </p:nvSpPr>
        <p:spPr>
          <a:xfrm>
            <a:off x="6283762" y="5319177"/>
            <a:ext cx="327184" cy="408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2550"/>
              <a:buFont typeface="Petrona"/>
              <a:buNone/>
            </a:pPr>
            <a:r>
              <a:rPr lang="en-US" sz="2550" b="1" i="0" u="none" strike="noStrike" cap="none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3</a:t>
            </a:r>
            <a:endParaRPr sz="255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0"/>
          <p:cNvSpPr/>
          <p:nvPr/>
        </p:nvSpPr>
        <p:spPr>
          <a:xfrm>
            <a:off x="6888837" y="5289947"/>
            <a:ext cx="2727127" cy="3408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619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2100"/>
              <a:buFont typeface="Petrona"/>
              <a:buNone/>
            </a:pPr>
            <a:r>
              <a:rPr lang="en-US" sz="2100" b="1" i="0" u="none" strike="noStrike" cap="none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User Interface</a:t>
            </a:r>
            <a:endParaRPr sz="2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20"/>
          <p:cNvSpPr/>
          <p:nvPr/>
        </p:nvSpPr>
        <p:spPr>
          <a:xfrm>
            <a:off x="6888837" y="5755481"/>
            <a:ext cx="7014329" cy="3324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600"/>
              <a:buFont typeface="Inter"/>
              <a:buNone/>
            </a:pPr>
            <a:r>
              <a:rPr lang="en-US" sz="1600" b="0" i="0" u="none" strike="noStrike" cap="non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Develop mobile and PC dashboards to display status visually.</a:t>
            </a:r>
            <a:endParaRPr sz="16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0"/>
          <p:cNvSpPr/>
          <p:nvPr/>
        </p:nvSpPr>
        <p:spPr>
          <a:xfrm>
            <a:off x="6213634" y="6529387"/>
            <a:ext cx="467439" cy="467439"/>
          </a:xfrm>
          <a:prstGeom prst="roundRect">
            <a:avLst>
              <a:gd name="adj" fmla="val 18669"/>
            </a:avLst>
          </a:prstGeom>
          <a:solidFill>
            <a:srgbClr val="CCEEFF"/>
          </a:solidFill>
          <a:ln w="9525" cap="flat" cmpd="sng">
            <a:solidFill>
              <a:srgbClr val="B2D4E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20"/>
          <p:cNvSpPr/>
          <p:nvPr/>
        </p:nvSpPr>
        <p:spPr>
          <a:xfrm>
            <a:off x="6283762" y="6558617"/>
            <a:ext cx="327184" cy="408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2550"/>
              <a:buFont typeface="Petrona"/>
              <a:buNone/>
            </a:pPr>
            <a:r>
              <a:rPr lang="en-US" sz="2550" b="1" i="0" u="none" strike="noStrike" cap="none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4</a:t>
            </a:r>
            <a:endParaRPr sz="255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20"/>
          <p:cNvSpPr/>
          <p:nvPr/>
        </p:nvSpPr>
        <p:spPr>
          <a:xfrm>
            <a:off x="6888837" y="6529387"/>
            <a:ext cx="2727127" cy="3408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619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2100"/>
              <a:buFont typeface="Petrona"/>
              <a:buNone/>
            </a:pPr>
            <a:r>
              <a:rPr lang="en-US" sz="2100" b="1" i="0" u="none" strike="noStrike" cap="none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Alert Systems</a:t>
            </a:r>
            <a:endParaRPr sz="2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0"/>
          <p:cNvSpPr/>
          <p:nvPr/>
        </p:nvSpPr>
        <p:spPr>
          <a:xfrm>
            <a:off x="6681087" y="6994897"/>
            <a:ext cx="7014300" cy="3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600"/>
              <a:buFont typeface="Inter"/>
              <a:buNone/>
            </a:pPr>
            <a:r>
              <a:rPr lang="en-US" sz="1600" b="0" i="0" u="none" strike="noStrike" cap="non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Trigger notifications for abnormal battery conditions automatically.</a:t>
            </a:r>
            <a:endParaRPr sz="16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9" name="Google Shape;159;p20" title="Screenshot (639)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397100" y="7664300"/>
            <a:ext cx="2233301" cy="565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1"/>
          <p:cNvSpPr/>
          <p:nvPr/>
        </p:nvSpPr>
        <p:spPr>
          <a:xfrm>
            <a:off x="793790" y="1922740"/>
            <a:ext cx="11709202" cy="744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80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650"/>
              <a:buFont typeface="Petrona"/>
              <a:buNone/>
            </a:pPr>
            <a:r>
              <a:rPr lang="en-US" sz="4650" b="1" i="0" u="none" strike="noStrike" cap="none">
                <a:solidFill>
                  <a:srgbClr val="000000"/>
                </a:solidFill>
                <a:latin typeface="Petrona"/>
                <a:ea typeface="Petrona"/>
                <a:cs typeface="Petrona"/>
                <a:sym typeface="Petrona"/>
              </a:rPr>
              <a:t>Storyboarding the Battery Monitoring Flow</a:t>
            </a:r>
            <a:endParaRPr sz="465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1"/>
          <p:cNvSpPr/>
          <p:nvPr/>
        </p:nvSpPr>
        <p:spPr>
          <a:xfrm>
            <a:off x="793790" y="3086457"/>
            <a:ext cx="6244709" cy="7258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marR="0" lvl="0" indent="-34290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50"/>
              <a:buFont typeface="Calibri"/>
              <a:buAutoNum type="arabicPeriod"/>
            </a:pPr>
            <a:r>
              <a:rPr lang="en-US" sz="1750" b="0" i="0" u="none" strike="noStrike" cap="non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Battery connected with voltage and current sensor modules.</a:t>
            </a:r>
            <a:endParaRPr sz="175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21"/>
          <p:cNvSpPr/>
          <p:nvPr/>
        </p:nvSpPr>
        <p:spPr>
          <a:xfrm>
            <a:off x="793790" y="3891558"/>
            <a:ext cx="6244709" cy="7258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marR="0" lvl="0" indent="-34290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50"/>
              <a:buFont typeface="Calibri"/>
              <a:buAutoNum type="arabicPeriod" startAt="2"/>
            </a:pPr>
            <a:r>
              <a:rPr lang="en-US" sz="1750" b="0" i="0" u="none" strike="noStrike" cap="non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ESP8266 reads sensor data and sends it to a cloud server.</a:t>
            </a:r>
            <a:endParaRPr sz="175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21"/>
          <p:cNvSpPr/>
          <p:nvPr/>
        </p:nvSpPr>
        <p:spPr>
          <a:xfrm>
            <a:off x="793790" y="4696658"/>
            <a:ext cx="6244709" cy="7258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marR="0" lvl="0" indent="-34290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50"/>
              <a:buFont typeface="Calibri"/>
              <a:buAutoNum type="arabicPeriod" startAt="3"/>
            </a:pPr>
            <a:r>
              <a:rPr lang="en-US" sz="1750" b="0" i="0" u="none" strike="noStrike" cap="non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User accesses battery status via mobile or web applications.</a:t>
            </a:r>
            <a:endParaRPr sz="175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21"/>
          <p:cNvSpPr/>
          <p:nvPr/>
        </p:nvSpPr>
        <p:spPr>
          <a:xfrm>
            <a:off x="793790" y="5501759"/>
            <a:ext cx="6244709" cy="7258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marR="0" lvl="0" indent="-34290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50"/>
              <a:buFont typeface="Calibri"/>
              <a:buAutoNum type="arabicPeriod" startAt="4"/>
            </a:pPr>
            <a:r>
              <a:rPr lang="en-US" sz="1750" b="0" i="0" u="none" strike="noStrike" cap="non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System sends alerts if voltage drops below predefined thresholds.</a:t>
            </a:r>
            <a:endParaRPr sz="175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21"/>
          <p:cNvSpPr/>
          <p:nvPr/>
        </p:nvSpPr>
        <p:spPr>
          <a:xfrm>
            <a:off x="7599521" y="3211235"/>
            <a:ext cx="6244709" cy="7258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50"/>
              <a:buFont typeface="Inter"/>
              <a:buNone/>
            </a:pPr>
            <a:r>
              <a:rPr lang="en-US" sz="1750" b="0" i="0" u="none" strike="noStrike" cap="non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This flow ensures continuous monitoring, timely updates, and proactive maintenance to avoid battery failures.</a:t>
            </a:r>
            <a:endParaRPr sz="175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21"/>
          <p:cNvSpPr/>
          <p:nvPr/>
        </p:nvSpPr>
        <p:spPr>
          <a:xfrm>
            <a:off x="7599521" y="4141113"/>
            <a:ext cx="6244709" cy="7258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50"/>
              <a:buFont typeface="Inter"/>
              <a:buNone/>
            </a:pPr>
            <a:r>
              <a:rPr lang="en-US" sz="1750" b="0" i="0" u="none" strike="noStrike" cap="non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Each step is essential for creating a reliable, user-friendly IoT-based battery monitoring system.</a:t>
            </a:r>
            <a:endParaRPr sz="175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2" name="Google Shape;172;p21" title="Screenshot (639)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397100" y="7664300"/>
            <a:ext cx="2233301" cy="565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" name="Google Shape;178;p22" title="Screenshot (639)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397100" y="7664300"/>
            <a:ext cx="2233301" cy="565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9" name="Google Shape;179;p22" title="WhatsApp Image 2025-06-24 at 21.29.34.jpeg"/>
          <p:cNvPicPr preferRelativeResize="0"/>
          <p:nvPr/>
        </p:nvPicPr>
        <p:blipFill rotWithShape="1">
          <a:blip r:embed="rId4">
            <a:alphaModFix/>
          </a:blip>
          <a:srcRect t="10302" b="10015"/>
          <a:stretch/>
        </p:blipFill>
        <p:spPr>
          <a:xfrm>
            <a:off x="4991350" y="0"/>
            <a:ext cx="4647706" cy="8229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5" name="Google Shape;185;p23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144000" y="0"/>
            <a:ext cx="5486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23"/>
          <p:cNvSpPr/>
          <p:nvPr/>
        </p:nvSpPr>
        <p:spPr>
          <a:xfrm>
            <a:off x="660202" y="829389"/>
            <a:ext cx="7752159" cy="618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97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50"/>
              <a:buFont typeface="Petrona"/>
              <a:buNone/>
            </a:pPr>
            <a:r>
              <a:rPr lang="en-US" sz="3850" b="1" i="0" u="none" strike="noStrike" cap="none">
                <a:solidFill>
                  <a:srgbClr val="000000"/>
                </a:solidFill>
                <a:latin typeface="Petrona"/>
                <a:ea typeface="Petrona"/>
                <a:cs typeface="Petrona"/>
                <a:sym typeface="Petrona"/>
              </a:rPr>
              <a:t>Prototype Components &amp; Working</a:t>
            </a:r>
            <a:endParaRPr sz="385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7" name="Google Shape;187;p23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60202" y="1731169"/>
            <a:ext cx="471607" cy="471607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23"/>
          <p:cNvSpPr/>
          <p:nvPr/>
        </p:nvSpPr>
        <p:spPr>
          <a:xfrm>
            <a:off x="660202" y="2391370"/>
            <a:ext cx="2419231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6315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900"/>
              <a:buFont typeface="Petrona"/>
              <a:buNone/>
            </a:pPr>
            <a:r>
              <a:rPr lang="en-US" sz="1900" b="1" i="0" u="none" strike="noStrike" cap="none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ESP8266 Wi-Fi Module</a:t>
            </a:r>
            <a:endParaRPr sz="19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23"/>
          <p:cNvSpPr/>
          <p:nvPr/>
        </p:nvSpPr>
        <p:spPr>
          <a:xfrm>
            <a:off x="660202" y="3123605"/>
            <a:ext cx="2419231" cy="9058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068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450"/>
              <a:buFont typeface="Inter"/>
              <a:buNone/>
            </a:pPr>
            <a:r>
              <a:rPr lang="en-US" sz="1450" b="0" i="0" u="none" strike="noStrike" cap="non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Facilitates wireless data communication to cloud servers.</a:t>
            </a:r>
            <a:endParaRPr sz="145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0" name="Google Shape;190;p23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362325" y="1731169"/>
            <a:ext cx="471607" cy="471607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23"/>
          <p:cNvSpPr/>
          <p:nvPr/>
        </p:nvSpPr>
        <p:spPr>
          <a:xfrm>
            <a:off x="3362325" y="2391370"/>
            <a:ext cx="2419231" cy="309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6315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900"/>
              <a:buFont typeface="Petrona"/>
              <a:buNone/>
            </a:pPr>
            <a:r>
              <a:rPr lang="en-US" sz="1900" b="1" i="0" u="none" strike="noStrike" cap="none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Arduino Board</a:t>
            </a:r>
            <a:endParaRPr sz="19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3"/>
          <p:cNvSpPr/>
          <p:nvPr/>
        </p:nvSpPr>
        <p:spPr>
          <a:xfrm>
            <a:off x="3362325" y="2814042"/>
            <a:ext cx="2419231" cy="9058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068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450"/>
              <a:buFont typeface="Inter"/>
              <a:buNone/>
            </a:pPr>
            <a:r>
              <a:rPr lang="en-US" sz="1450" b="0" i="0" u="none" strike="noStrike" cap="non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Processes sensor data and controls communication flow.</a:t>
            </a:r>
            <a:endParaRPr sz="145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23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064448" y="1731169"/>
            <a:ext cx="471607" cy="471607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23"/>
          <p:cNvSpPr/>
          <p:nvPr/>
        </p:nvSpPr>
        <p:spPr>
          <a:xfrm>
            <a:off x="6064448" y="2391370"/>
            <a:ext cx="2419231" cy="309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6315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900"/>
              <a:buFont typeface="Petrona"/>
              <a:buNone/>
            </a:pPr>
            <a:r>
              <a:rPr lang="en-US" sz="1900" b="1" i="0" u="none" strike="noStrike" cap="none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Sensors</a:t>
            </a:r>
            <a:endParaRPr sz="19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3"/>
          <p:cNvSpPr/>
          <p:nvPr/>
        </p:nvSpPr>
        <p:spPr>
          <a:xfrm>
            <a:off x="6064448" y="2814042"/>
            <a:ext cx="2419231" cy="3019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marR="0" lvl="0" indent="-342900" algn="l" rtl="0">
              <a:lnSpc>
                <a:spcPct val="162068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450"/>
              <a:buFont typeface="Inter"/>
              <a:buChar char="•"/>
            </a:pPr>
            <a:r>
              <a:rPr lang="en-US" sz="1450" b="0" i="0" u="none" strike="noStrike" cap="non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Voltage Sensor</a:t>
            </a:r>
            <a:endParaRPr sz="145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3"/>
          <p:cNvSpPr/>
          <p:nvPr/>
        </p:nvSpPr>
        <p:spPr>
          <a:xfrm>
            <a:off x="6064448" y="3181945"/>
            <a:ext cx="2419231" cy="3019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marR="0" lvl="0" indent="-342900" algn="l" rtl="0">
              <a:lnSpc>
                <a:spcPct val="162068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450"/>
              <a:buFont typeface="Inter"/>
              <a:buChar char="•"/>
            </a:pPr>
            <a:r>
              <a:rPr lang="en-US" sz="1450" b="0" i="0" u="none" strike="noStrike" cap="non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Current Sensor</a:t>
            </a:r>
            <a:endParaRPr sz="145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7" name="Google Shape;197;p23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60202" y="4595336"/>
            <a:ext cx="471607" cy="471607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23"/>
          <p:cNvSpPr/>
          <p:nvPr/>
        </p:nvSpPr>
        <p:spPr>
          <a:xfrm>
            <a:off x="660202" y="5255538"/>
            <a:ext cx="2419231" cy="309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6315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900"/>
              <a:buFont typeface="Petrona"/>
              <a:buNone/>
            </a:pPr>
            <a:r>
              <a:rPr lang="en-US" sz="1900" b="1" i="0" u="none" strike="noStrike" cap="none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Cloud Server</a:t>
            </a:r>
            <a:endParaRPr sz="19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23"/>
          <p:cNvSpPr/>
          <p:nvPr/>
        </p:nvSpPr>
        <p:spPr>
          <a:xfrm>
            <a:off x="660202" y="5678210"/>
            <a:ext cx="2419231" cy="9058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068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450"/>
              <a:buFont typeface="Inter"/>
              <a:buNone/>
            </a:pPr>
            <a:r>
              <a:rPr lang="en-US" sz="1450" b="0" i="0" u="none" strike="noStrike" cap="non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Stores and displays battery data; platforms like ThingSpeak or Blynk.</a:t>
            </a:r>
            <a:endParaRPr sz="145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23"/>
          <p:cNvSpPr/>
          <p:nvPr/>
        </p:nvSpPr>
        <p:spPr>
          <a:xfrm>
            <a:off x="660202" y="6796207"/>
            <a:ext cx="7823597" cy="603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068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450"/>
              <a:buFont typeface="Inter"/>
              <a:buNone/>
            </a:pPr>
            <a:r>
              <a:rPr lang="en-US" sz="1450" b="0" i="0" u="none" strike="noStrike" cap="non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Sensor data is collected and processed by the Arduino, transmitted via ESP8266, enabling users to monitor battery health remotely in real-time.</a:t>
            </a:r>
            <a:endParaRPr sz="145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24" title="Screenshot (639)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397100" y="7664300"/>
            <a:ext cx="2233301" cy="565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6C6E8E3-29B0-A0E0-B6F1-F072319B57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6901" y="266163"/>
            <a:ext cx="12336597" cy="769727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3" name="Google Shape;213;p25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144000" y="0"/>
            <a:ext cx="5486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214" name="Google Shape;214;p25"/>
          <p:cNvSpPr/>
          <p:nvPr/>
        </p:nvSpPr>
        <p:spPr>
          <a:xfrm>
            <a:off x="757357" y="772358"/>
            <a:ext cx="7629287" cy="14199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50"/>
              <a:buFont typeface="Petrona"/>
              <a:buNone/>
            </a:pPr>
            <a:r>
              <a:rPr lang="en-US" sz="4450" b="1" i="0" u="none" strike="noStrike" cap="none">
                <a:solidFill>
                  <a:srgbClr val="000000"/>
                </a:solidFill>
                <a:latin typeface="Petrona"/>
                <a:ea typeface="Petrona"/>
                <a:cs typeface="Petrona"/>
                <a:sym typeface="Petrona"/>
              </a:rPr>
              <a:t>Conclusion and Future Directions</a:t>
            </a:r>
            <a:endParaRPr sz="445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25"/>
          <p:cNvSpPr/>
          <p:nvPr/>
        </p:nvSpPr>
        <p:spPr>
          <a:xfrm>
            <a:off x="757357" y="2760226"/>
            <a:ext cx="486847" cy="486847"/>
          </a:xfrm>
          <a:prstGeom prst="roundRect">
            <a:avLst>
              <a:gd name="adj" fmla="val 18669"/>
            </a:avLst>
          </a:prstGeom>
          <a:solidFill>
            <a:srgbClr val="CCEEFF"/>
          </a:solidFill>
          <a:ln w="9525" cap="flat" cmpd="sng">
            <a:solidFill>
              <a:srgbClr val="B2D4E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25"/>
          <p:cNvSpPr/>
          <p:nvPr/>
        </p:nvSpPr>
        <p:spPr>
          <a:xfrm>
            <a:off x="1460540" y="2760226"/>
            <a:ext cx="3003352" cy="7100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2200"/>
              <a:buFont typeface="Petrona"/>
              <a:buNone/>
            </a:pPr>
            <a:r>
              <a:rPr lang="en-US" sz="2200" b="1" i="0" u="none" strike="noStrike" cap="none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Reliable Battery Management</a:t>
            </a:r>
            <a:endParaRPr sz="2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25"/>
          <p:cNvSpPr/>
          <p:nvPr/>
        </p:nvSpPr>
        <p:spPr>
          <a:xfrm>
            <a:off x="1460540" y="3600093"/>
            <a:ext cx="3003352" cy="13849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00"/>
              <a:buFont typeface="Inter"/>
              <a:buNone/>
            </a:pPr>
            <a:r>
              <a:rPr lang="en-US" sz="1700" b="0" i="0" u="none" strike="noStrike" cap="non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IoT-based monitoring enhances system uptime and reduces manual maintenance efforts.</a:t>
            </a:r>
            <a:endParaRPr sz="1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p25"/>
          <p:cNvSpPr/>
          <p:nvPr/>
        </p:nvSpPr>
        <p:spPr>
          <a:xfrm>
            <a:off x="4680228" y="2760226"/>
            <a:ext cx="486847" cy="486847"/>
          </a:xfrm>
          <a:prstGeom prst="roundRect">
            <a:avLst>
              <a:gd name="adj" fmla="val 18669"/>
            </a:avLst>
          </a:prstGeom>
          <a:solidFill>
            <a:srgbClr val="CCEEFF"/>
          </a:solidFill>
          <a:ln w="9525" cap="flat" cmpd="sng">
            <a:solidFill>
              <a:srgbClr val="B2D4E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" name="Google Shape;219;p25"/>
          <p:cNvSpPr/>
          <p:nvPr/>
        </p:nvSpPr>
        <p:spPr>
          <a:xfrm>
            <a:off x="5383411" y="2760226"/>
            <a:ext cx="2878336" cy="3550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2200"/>
              <a:buFont typeface="Petrona"/>
              <a:buNone/>
            </a:pPr>
            <a:r>
              <a:rPr lang="en-US" sz="2200" b="1" i="0" u="none" strike="noStrike" cap="none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Future Enhancements</a:t>
            </a:r>
            <a:endParaRPr sz="2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25"/>
          <p:cNvSpPr/>
          <p:nvPr/>
        </p:nvSpPr>
        <p:spPr>
          <a:xfrm>
            <a:off x="5383411" y="3245048"/>
            <a:ext cx="3003352" cy="10387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marR="0" lvl="0" indent="-342900" algn="l" rtl="0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00"/>
              <a:buFont typeface="Inter"/>
              <a:buChar char="•"/>
            </a:pPr>
            <a:r>
              <a:rPr lang="en-US" sz="1700" b="0" i="0" u="none" strike="noStrike" cap="non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Temperature monitoring to safeguard against overheating.</a:t>
            </a:r>
            <a:endParaRPr sz="1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25"/>
          <p:cNvSpPr/>
          <p:nvPr/>
        </p:nvSpPr>
        <p:spPr>
          <a:xfrm>
            <a:off x="5383411" y="4359473"/>
            <a:ext cx="3003352" cy="10387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marR="0" lvl="0" indent="-342900" algn="l" rtl="0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00"/>
              <a:buFont typeface="Inter"/>
              <a:buChar char="•"/>
            </a:pPr>
            <a:r>
              <a:rPr lang="en-US" sz="1700" b="0" i="0" u="none" strike="noStrike" cap="non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AI-based predictive analytics for early failure detection.</a:t>
            </a:r>
            <a:endParaRPr sz="1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" name="Google Shape;222;p25"/>
          <p:cNvSpPr/>
          <p:nvPr/>
        </p:nvSpPr>
        <p:spPr>
          <a:xfrm>
            <a:off x="5383411" y="5473898"/>
            <a:ext cx="3003352" cy="692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marR="0" lvl="0" indent="-342900" algn="l" rtl="0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00"/>
              <a:buFont typeface="Inter"/>
              <a:buChar char="•"/>
            </a:pPr>
            <a:r>
              <a:rPr lang="en-US" sz="1700" b="0" i="0" u="none" strike="noStrike" cap="non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Push notifications for immediate user alerts.</a:t>
            </a:r>
            <a:endParaRPr sz="1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25"/>
          <p:cNvSpPr/>
          <p:nvPr/>
        </p:nvSpPr>
        <p:spPr>
          <a:xfrm>
            <a:off x="757357" y="6626066"/>
            <a:ext cx="486847" cy="486847"/>
          </a:xfrm>
          <a:prstGeom prst="roundRect">
            <a:avLst>
              <a:gd name="adj" fmla="val 18669"/>
            </a:avLst>
          </a:prstGeom>
          <a:solidFill>
            <a:srgbClr val="CCEEFF"/>
          </a:solidFill>
          <a:ln w="9525" cap="flat" cmpd="sng">
            <a:solidFill>
              <a:srgbClr val="B2D4E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p25"/>
          <p:cNvSpPr/>
          <p:nvPr/>
        </p:nvSpPr>
        <p:spPr>
          <a:xfrm>
            <a:off x="1460540" y="6626066"/>
            <a:ext cx="2840355" cy="3550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2200"/>
              <a:buFont typeface="Petrona"/>
              <a:buNone/>
            </a:pPr>
            <a:r>
              <a:rPr lang="en-US" sz="2200" b="1" i="0" u="none" strike="noStrike" cap="none">
                <a:solidFill>
                  <a:srgbClr val="272525"/>
                </a:solidFill>
                <a:latin typeface="Petrona"/>
                <a:ea typeface="Petrona"/>
                <a:cs typeface="Petrona"/>
                <a:sym typeface="Petrona"/>
              </a:rPr>
              <a:t>Contact Us</a:t>
            </a:r>
            <a:endParaRPr sz="2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25"/>
          <p:cNvSpPr/>
          <p:nvPr/>
        </p:nvSpPr>
        <p:spPr>
          <a:xfrm>
            <a:off x="1460540" y="7110889"/>
            <a:ext cx="6926104" cy="3462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700"/>
              <a:buFont typeface="Inter"/>
              <a:buNone/>
            </a:pPr>
            <a:r>
              <a:rPr lang="en-US" sz="1700" b="0" i="0" u="none" strike="noStrike" cap="non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Reach out for collaboration or queries: [Your Email IDs]</a:t>
            </a:r>
            <a:endParaRPr sz="1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1" name="Google Shape;231;p26" title="Screenshot (639)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397100" y="7664300"/>
            <a:ext cx="2233301" cy="565300"/>
          </a:xfrm>
          <a:prstGeom prst="rect">
            <a:avLst/>
          </a:prstGeom>
          <a:noFill/>
          <a:ln>
            <a:noFill/>
          </a:ln>
        </p:spPr>
      </p:pic>
      <p:sp>
        <p:nvSpPr>
          <p:cNvPr id="232" name="Google Shape;232;p26"/>
          <p:cNvSpPr txBox="1"/>
          <p:nvPr/>
        </p:nvSpPr>
        <p:spPr>
          <a:xfrm>
            <a:off x="4933950" y="2914200"/>
            <a:ext cx="4762500" cy="240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00">
                <a:latin typeface="Georgia"/>
                <a:ea typeface="Georgia"/>
                <a:cs typeface="Georgia"/>
                <a:sym typeface="Georgia"/>
              </a:rPr>
              <a:t>THANK YOU</a:t>
            </a:r>
            <a:endParaRPr sz="7200">
              <a:latin typeface="Georgia"/>
              <a:ea typeface="Georgia"/>
              <a:cs typeface="Georgia"/>
              <a:sym typeface="Georgi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641</Words>
  <Application>Microsoft Office PowerPoint</Application>
  <PresentationFormat>Custom</PresentationFormat>
  <Paragraphs>98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Petrona</vt:lpstr>
      <vt:lpstr>Arial</vt:lpstr>
      <vt:lpstr>Calibri</vt:lpstr>
      <vt:lpstr>Georgia</vt:lpstr>
      <vt:lpstr>Inter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Amanapu maharshi</dc:creator>
  <cp:lastModifiedBy>Amanapu maharshi</cp:lastModifiedBy>
  <cp:revision>1</cp:revision>
  <dcterms:modified xsi:type="dcterms:W3CDTF">2025-07-19T04:30:54Z</dcterms:modified>
</cp:coreProperties>
</file>