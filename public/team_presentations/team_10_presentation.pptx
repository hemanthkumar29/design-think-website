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8229600" cx="14630400"/>
  <p:notesSz cx="8229600" cy="14630400"/>
  <p:embeddedFontLst>
    <p:embeddedFont>
      <p:font typeface="Inter"/>
      <p:regular r:id="rId19"/>
      <p:bold r:id="rId20"/>
      <p:italic r:id="rId21"/>
      <p:boldItalic r:id="rId22"/>
    </p:embeddedFont>
    <p:embeddedFont>
      <p:font typeface="Petrona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Petrona-bold.fntdata"/><Relationship Id="rId23" Type="http://schemas.openxmlformats.org/officeDocument/2006/relationships/font" Target="fonts/Petrona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etrona-boldItalic.fntdata"/><Relationship Id="rId25" Type="http://schemas.openxmlformats.org/officeDocument/2006/relationships/font" Target="fonts/Petrona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Inter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abf2bd8c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6abf2bd8c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6abf2bd8c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abf2bd8ce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6abf2bd8ce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6abf2bd8ce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574de616f1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574de616f1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574de616f1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450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9" name="Google Shape;4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/>
        </p:nvSpPr>
        <p:spPr>
          <a:xfrm>
            <a:off x="1328750" y="1542700"/>
            <a:ext cx="61722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chemeClr val="dk1"/>
                </a:solidFill>
                <a:latin typeface="Petrona"/>
                <a:ea typeface="Petrona"/>
                <a:cs typeface="Petrona"/>
                <a:sym typeface="Petrona"/>
              </a:rPr>
              <a:t>DESIGN THINKING AND INNOVATION</a:t>
            </a:r>
            <a:endParaRPr b="0" i="0" sz="4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328750" y="4117175"/>
            <a:ext cx="3748200" cy="26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by: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 PUJITHA - 23KD1A0222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MAHARSHI - 23KD1A0203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 KALI -23KD1A0263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TEJA KRISHNA-23KD1A0229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3" title="istockphoto-624695614-612x612.jpg"/>
          <p:cNvPicPr preferRelativeResize="0"/>
          <p:nvPr/>
        </p:nvPicPr>
        <p:blipFill rotWithShape="1">
          <a:blip r:embed="rId3">
            <a:alphaModFix/>
          </a:blip>
          <a:srcRect b="0" l="3541" r="39611" t="0"/>
          <a:stretch/>
        </p:blipFill>
        <p:spPr>
          <a:xfrm>
            <a:off x="7500950" y="0"/>
            <a:ext cx="71221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6280190" y="1957983"/>
            <a:ext cx="7556421" cy="2232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Petrona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IOT BASED BATTERY MONITORING SYSTEM USING ESP8266 ARDUINO</a:t>
            </a:r>
            <a:endParaRPr b="0" i="0" sz="4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6280200" y="4530927"/>
            <a:ext cx="7556400" cy="22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t/>
            </a:r>
            <a:endParaRPr sz="175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Under the Guidance of: </a:t>
            </a:r>
            <a:endParaRPr b="0" i="0" sz="1750" u="none" cap="none" strike="noStrike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lang="en-US" sz="2000">
                <a:solidFill>
                  <a:schemeClr val="dk1"/>
                </a:solidFill>
              </a:rPr>
              <a:t>Mr.B.Ram Vara prasad (Ph.D)</a:t>
            </a:r>
            <a:endParaRPr b="1"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Assistant</a:t>
            </a:r>
            <a:r>
              <a:rPr b="1" lang="en-US" sz="2000">
                <a:solidFill>
                  <a:schemeClr val="dk1"/>
                </a:solidFill>
              </a:rPr>
              <a:t> Professor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Department of EEE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LIET</a:t>
            </a:r>
            <a:endParaRPr b="1" sz="700">
              <a:solidFill>
                <a:schemeClr val="dk1"/>
              </a:solidFill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6280190" y="5891689"/>
            <a:ext cx="362903" cy="362903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14" title="Screenshot (63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97100" y="7664300"/>
            <a:ext cx="2233301" cy="56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4" name="Google Shape;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3472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/>
          <p:nvPr/>
        </p:nvSpPr>
        <p:spPr>
          <a:xfrm>
            <a:off x="6234470" y="587812"/>
            <a:ext cx="5611297" cy="701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Petrona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Contents Overview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6234470" y="1609844"/>
            <a:ext cx="7647861" cy="1605439"/>
          </a:xfrm>
          <a:prstGeom prst="roundRect">
            <a:avLst>
              <a:gd fmla="val 5592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6455807" y="1831181"/>
            <a:ext cx="3089077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etrona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Introduction &amp; Problem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6455807" y="2310051"/>
            <a:ext cx="7205186" cy="683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Exploring IoT fundamentals and challenges in battery health monitoring.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6234470" y="3429000"/>
            <a:ext cx="7647861" cy="1263491"/>
          </a:xfrm>
          <a:prstGeom prst="roundRect">
            <a:avLst>
              <a:gd fmla="val 7106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6455807" y="3650337"/>
            <a:ext cx="2805589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etrona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Design Thinking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6455807" y="4129207"/>
            <a:ext cx="7205186" cy="341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Empathy, Define, and Ideate phases to frame the solution.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6234470" y="4906208"/>
            <a:ext cx="7647861" cy="1263491"/>
          </a:xfrm>
          <a:prstGeom prst="roundRect">
            <a:avLst>
              <a:gd fmla="val 7106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6455807" y="5127546"/>
            <a:ext cx="2866192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etrona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Solution Development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6455807" y="5606415"/>
            <a:ext cx="7205186" cy="341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Storyboarding, prototyping, and system demonstration steps.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6234470" y="6383417"/>
            <a:ext cx="7647861" cy="1263491"/>
          </a:xfrm>
          <a:prstGeom prst="roundRect">
            <a:avLst>
              <a:gd fmla="val 7106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6455807" y="6604754"/>
            <a:ext cx="2807851" cy="35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etrona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Conclusion &amp; Contact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6455807" y="7083623"/>
            <a:ext cx="7205186" cy="341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Insights, future enhancements, and ways to connect.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15" title="Screenshot (63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81225" y="7761525"/>
            <a:ext cx="1849174" cy="46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793790" y="1996321"/>
            <a:ext cx="11221641" cy="74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Petrona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Introduction to IoT &amp; Battery Monitoring</a:t>
            </a:r>
            <a:endParaRPr b="0" i="0" sz="4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793790" y="3284815"/>
            <a:ext cx="6244709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Internet of Things (IoT) enables interconnected devices to monitor and manage data efficiently. Battery systems are critical in providing backup power for many applications.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793790" y="4940498"/>
            <a:ext cx="624470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IoT-based battery monitoring systems track vital parameters such as voltage and state of health, sending real-time updates to users for timely interventions.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7599521" y="3284815"/>
            <a:ext cx="624470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ESP8266 microcontroller is widely used due to its low cost and integrated Wi-Fi capability, making it ideal for implementing wireless battery monitoring solutions.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6" title="Screenshot (63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7100" y="7664300"/>
            <a:ext cx="2233301" cy="56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4" name="Google Shape;1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/>
          <p:nvPr/>
        </p:nvSpPr>
        <p:spPr>
          <a:xfrm>
            <a:off x="793790" y="1239679"/>
            <a:ext cx="5954197" cy="74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Petrona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Problem Statement</a:t>
            </a:r>
            <a:endParaRPr b="0" i="0" sz="4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793790" y="2579251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1530906" y="2579251"/>
            <a:ext cx="2927747" cy="744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Manual Checks Are Unreliable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1530906" y="3459480"/>
            <a:ext cx="2927747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Periodic physical monitoring can miss critical battery conditions leading to unnoticed damage.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4685467" y="2579251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5422583" y="2579251"/>
            <a:ext cx="2927747" cy="744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Unexpected Downtime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5422583" y="3459480"/>
            <a:ext cx="2927747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Battery failures often cause sudden power loss, adversely impacting operations.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793790" y="5755958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1530906" y="5755958"/>
            <a:ext cx="2977039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300"/>
              <a:buFont typeface="Petrona"/>
              <a:buNone/>
            </a:pPr>
            <a:r>
              <a:rPr b="1" i="0" lang="en-US" sz="23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Need for Automation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1530906" y="6264116"/>
            <a:ext cx="681930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remote, automated system is required for continuous, accurate monitoring to reduce human error.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/>
          <p:nvPr/>
        </p:nvSpPr>
        <p:spPr>
          <a:xfrm>
            <a:off x="793790" y="2177772"/>
            <a:ext cx="9224963" cy="74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Petrona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Empathy: Understanding the User</a:t>
            </a:r>
            <a:endParaRPr b="0" i="0" sz="4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793790" y="3466267"/>
            <a:ext cx="6244709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Applying the 5 WHY’s method reveals that the lack of continuous monitoring stems from dependence on manual checks, which are time-consuming and prone to error.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793790" y="5121950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Battery failures disrupt critical operations, impacting both safety and costs.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7599521" y="3341489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Technician persona responsible for large battery arrays.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7599521" y="4146590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Needs timely remote access to battery health data.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7599521" y="4588788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Requires actionable alerts to enable prompt maintenance.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18" title="Screenshot (63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7100" y="7664300"/>
            <a:ext cx="2233301" cy="56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2" name="Google Shape;13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/>
          <p:nvPr/>
        </p:nvSpPr>
        <p:spPr>
          <a:xfrm>
            <a:off x="793790" y="1984177"/>
            <a:ext cx="7556421" cy="14885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Petrona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Define: Point of View Statement</a:t>
            </a:r>
            <a:endParaRPr b="0" i="0" sz="4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793790" y="3812858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POV Statement: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Battery maintenance technicians need a real-time monitoring system because manual checking is inefficient and can miss critical battery failures, causing costly downtime.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793790" y="5156716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This insight focuses the design process on creating a solution that increases reliability, reduces manual effort, and supports proactive maintenance.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1" name="Google Shape;14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/>
          <p:nvPr/>
        </p:nvSpPr>
        <p:spPr>
          <a:xfrm>
            <a:off x="6213634" y="902256"/>
            <a:ext cx="7689533" cy="13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Petrona"/>
              <a:buNone/>
            </a:pPr>
            <a:r>
              <a:rPr b="1" i="0" lang="en-US" sz="42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Ideate: Solution Brainstorming</a:t>
            </a:r>
            <a:endParaRPr b="0" i="0" sz="4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6213634" y="2811066"/>
            <a:ext cx="467439" cy="467439"/>
          </a:xfrm>
          <a:prstGeom prst="roundRect">
            <a:avLst>
              <a:gd fmla="val 1866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6283762" y="2840295"/>
            <a:ext cx="327184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50"/>
              <a:buFont typeface="Petrona"/>
              <a:buNone/>
            </a:pPr>
            <a:r>
              <a:rPr b="1" i="0" lang="en-US" sz="25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1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6888837" y="2811066"/>
            <a:ext cx="2727127" cy="34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Petrona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Sensor Integration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6888837" y="3276600"/>
            <a:ext cx="7014329" cy="33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 voltage and current sensors to collect live battery data.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6213634" y="4050506"/>
            <a:ext cx="467439" cy="467439"/>
          </a:xfrm>
          <a:prstGeom prst="roundRect">
            <a:avLst>
              <a:gd fmla="val 1866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6283762" y="4079736"/>
            <a:ext cx="327184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50"/>
              <a:buFont typeface="Petrona"/>
              <a:buNone/>
            </a:pPr>
            <a:r>
              <a:rPr b="1" i="0" lang="en-US" sz="25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2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6888837" y="4050506"/>
            <a:ext cx="3192780" cy="34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Petrona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Wireless Communication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6888837" y="4516041"/>
            <a:ext cx="7014329" cy="33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Leverage ESP8266 module for Wi-Fi enabled data transmission.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6213634" y="5289947"/>
            <a:ext cx="467439" cy="467439"/>
          </a:xfrm>
          <a:prstGeom prst="roundRect">
            <a:avLst>
              <a:gd fmla="val 1866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6283762" y="5319177"/>
            <a:ext cx="327184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50"/>
              <a:buFont typeface="Petrona"/>
              <a:buNone/>
            </a:pPr>
            <a:r>
              <a:rPr b="1" i="0" lang="en-US" sz="25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3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6888837" y="5289947"/>
            <a:ext cx="2727127" cy="34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Petrona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User Interface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6888837" y="5755481"/>
            <a:ext cx="7014329" cy="33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Develop mobile and PC dashboards to display status visually.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6213634" y="6529387"/>
            <a:ext cx="467439" cy="467439"/>
          </a:xfrm>
          <a:prstGeom prst="roundRect">
            <a:avLst>
              <a:gd fmla="val 1866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6283762" y="6558617"/>
            <a:ext cx="327184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550"/>
              <a:buFont typeface="Petrona"/>
              <a:buNone/>
            </a:pPr>
            <a:r>
              <a:rPr b="1" i="0" lang="en-US" sz="255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4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6888837" y="6529387"/>
            <a:ext cx="2727127" cy="34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Petrona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Alert Systems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6681087" y="6994897"/>
            <a:ext cx="70143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Trigger notifications for abnormal battery conditions automatically.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20" title="Screenshot (63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97100" y="7664300"/>
            <a:ext cx="2233301" cy="56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/>
          <p:nvPr/>
        </p:nvSpPr>
        <p:spPr>
          <a:xfrm>
            <a:off x="793790" y="1922740"/>
            <a:ext cx="11709202" cy="74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50"/>
              <a:buFont typeface="Petrona"/>
              <a:buNone/>
            </a:pPr>
            <a:r>
              <a:rPr b="1" i="0" lang="en-US" sz="46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Storyboarding the Battery Monitoring Flow</a:t>
            </a:r>
            <a:endParaRPr b="0" i="0" sz="4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793790" y="3086457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Calibri"/>
              <a:buAutoNum type="arabicPeriod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Battery connected with voltage and current sensor modules.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793790" y="3891558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Calibri"/>
              <a:buAutoNum type="arabicPeriod" startAt="2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ESP8266 reads sensor data and sends it to a cloud server.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793790" y="4696658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Calibri"/>
              <a:buAutoNum type="arabicPeriod" startAt="3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User accesses battery status via mobile or web applications.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793790" y="5501759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Calibri"/>
              <a:buAutoNum type="arabicPeriod" startAt="4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System sends alerts if voltage drops below predefined thresholds.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7599521" y="3211235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This flow ensures continuous monitoring, timely updates, and proactive maintenance to avoid battery failures.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7599521" y="4141113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Each step is essential for creating a reliable, user-friendly IoT-based battery monitoring system.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21" title="Screenshot (63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7100" y="7664300"/>
            <a:ext cx="2233301" cy="56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2" title="Screenshot (63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7100" y="7664300"/>
            <a:ext cx="2233301" cy="56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 title="WhatsApp Image 2025-06-24 at 21.29.34.jpeg"/>
          <p:cNvPicPr preferRelativeResize="0"/>
          <p:nvPr/>
        </p:nvPicPr>
        <p:blipFill rotWithShape="1">
          <a:blip r:embed="rId4">
            <a:alphaModFix/>
          </a:blip>
          <a:srcRect b="10015" l="0" r="0" t="10302"/>
          <a:stretch/>
        </p:blipFill>
        <p:spPr>
          <a:xfrm>
            <a:off x="4991350" y="0"/>
            <a:ext cx="4647706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5" name="Google Shape;18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3"/>
          <p:cNvSpPr/>
          <p:nvPr/>
        </p:nvSpPr>
        <p:spPr>
          <a:xfrm>
            <a:off x="660202" y="829389"/>
            <a:ext cx="7752159" cy="618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50"/>
              <a:buFont typeface="Petrona"/>
              <a:buNone/>
            </a:pPr>
            <a:r>
              <a:rPr b="1" i="0" lang="en-US" sz="38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Prototype Components &amp; Working</a:t>
            </a:r>
            <a:endParaRPr b="0" i="0" sz="3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7" name="Google Shape;18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202" y="1731169"/>
            <a:ext cx="471607" cy="47160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3"/>
          <p:cNvSpPr/>
          <p:nvPr/>
        </p:nvSpPr>
        <p:spPr>
          <a:xfrm>
            <a:off x="660202" y="2391370"/>
            <a:ext cx="2419231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Petrona"/>
              <a:buNone/>
            </a:pPr>
            <a:r>
              <a:rPr b="1" i="0" lang="en-US" sz="19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ESP8266 Wi-Fi Module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660202" y="3123605"/>
            <a:ext cx="2419231" cy="905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Facilitates wireless data communication to cloud servers.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0" name="Google Shape;19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62325" y="1731169"/>
            <a:ext cx="471607" cy="471607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3"/>
          <p:cNvSpPr/>
          <p:nvPr/>
        </p:nvSpPr>
        <p:spPr>
          <a:xfrm>
            <a:off x="3362325" y="2391370"/>
            <a:ext cx="2419231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Petrona"/>
              <a:buNone/>
            </a:pPr>
            <a:r>
              <a:rPr b="1" i="0" lang="en-US" sz="19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Arduino Board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3362325" y="2814042"/>
            <a:ext cx="2419231" cy="905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Processes sensor data and controls communication flow.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3" name="Google Shape;19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4448" y="1731169"/>
            <a:ext cx="471607" cy="471607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3"/>
          <p:cNvSpPr/>
          <p:nvPr/>
        </p:nvSpPr>
        <p:spPr>
          <a:xfrm>
            <a:off x="6064448" y="2391370"/>
            <a:ext cx="2419231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Petrona"/>
              <a:buNone/>
            </a:pPr>
            <a:r>
              <a:rPr b="1" i="0" lang="en-US" sz="19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Sensors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6064448" y="2814042"/>
            <a:ext cx="2419231" cy="301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Voltage Sensor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6064448" y="3181945"/>
            <a:ext cx="2419231" cy="301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Current Sensor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7" name="Google Shape;19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202" y="4595336"/>
            <a:ext cx="471607" cy="471607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3"/>
          <p:cNvSpPr/>
          <p:nvPr/>
        </p:nvSpPr>
        <p:spPr>
          <a:xfrm>
            <a:off x="660202" y="5255538"/>
            <a:ext cx="2419231" cy="309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00"/>
              <a:buFont typeface="Petrona"/>
              <a:buNone/>
            </a:pPr>
            <a:r>
              <a:rPr b="1" i="0" lang="en-US" sz="19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Cloud Server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660202" y="5678210"/>
            <a:ext cx="2419231" cy="905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Stores and displays battery data; platforms like ThingSpeak or Blynk.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660202" y="6796207"/>
            <a:ext cx="7823597" cy="603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Sensor data is collected and processed by the Arduino, transmitted via ESP8266, enabling users to monitor battery health remotely in real-time.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4" title="Screenshot (63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7100" y="7664300"/>
            <a:ext cx="2233301" cy="56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4" title="WhatsApp Image 2025-06-24 at 21.30.11.jpeg"/>
          <p:cNvPicPr preferRelativeResize="0"/>
          <p:nvPr/>
        </p:nvPicPr>
        <p:blipFill rotWithShape="1">
          <a:blip r:embed="rId4">
            <a:alphaModFix/>
          </a:blip>
          <a:srcRect b="10277" l="0" r="0" t="11211"/>
          <a:stretch/>
        </p:blipFill>
        <p:spPr>
          <a:xfrm>
            <a:off x="4956663" y="0"/>
            <a:ext cx="4717078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3" name="Google Shape;21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5"/>
          <p:cNvSpPr/>
          <p:nvPr/>
        </p:nvSpPr>
        <p:spPr>
          <a:xfrm>
            <a:off x="757357" y="772358"/>
            <a:ext cx="7629287" cy="1419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Petrona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Petrona"/>
                <a:ea typeface="Petrona"/>
                <a:cs typeface="Petrona"/>
                <a:sym typeface="Petrona"/>
              </a:rPr>
              <a:t>Conclusion and Future Directions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5"/>
          <p:cNvSpPr/>
          <p:nvPr/>
        </p:nvSpPr>
        <p:spPr>
          <a:xfrm>
            <a:off x="757357" y="2760226"/>
            <a:ext cx="486847" cy="486847"/>
          </a:xfrm>
          <a:prstGeom prst="roundRect">
            <a:avLst>
              <a:gd fmla="val 1866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5"/>
          <p:cNvSpPr/>
          <p:nvPr/>
        </p:nvSpPr>
        <p:spPr>
          <a:xfrm>
            <a:off x="1460540" y="2760226"/>
            <a:ext cx="3003352" cy="710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etrona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Reliable Battery Management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5"/>
          <p:cNvSpPr/>
          <p:nvPr/>
        </p:nvSpPr>
        <p:spPr>
          <a:xfrm>
            <a:off x="1460540" y="3600093"/>
            <a:ext cx="3003352" cy="1384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IoT-based monitoring enhances system uptime and reduces manual maintenance efforts.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4680228" y="2760226"/>
            <a:ext cx="486847" cy="486847"/>
          </a:xfrm>
          <a:prstGeom prst="roundRect">
            <a:avLst>
              <a:gd fmla="val 1866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5383411" y="2760226"/>
            <a:ext cx="2878336" cy="355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etrona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Future Enhancements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5383411" y="3245048"/>
            <a:ext cx="3003352" cy="1038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Char char="•"/>
            </a:pPr>
            <a:r>
              <a:rPr b="0" i="0" lang="en-US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Temperature monitoring to safeguard against overheating.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5383411" y="4359473"/>
            <a:ext cx="3003352" cy="1038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Char char="•"/>
            </a:pPr>
            <a:r>
              <a:rPr b="0" i="0" lang="en-US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AI-based predictive analytics for early failure detection.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5383411" y="5473898"/>
            <a:ext cx="3003352" cy="69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Char char="•"/>
            </a:pPr>
            <a:r>
              <a:rPr b="0" i="0" lang="en-US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Push notifications for immediate user alerts.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757357" y="6626066"/>
            <a:ext cx="486847" cy="486847"/>
          </a:xfrm>
          <a:prstGeom prst="roundRect">
            <a:avLst>
              <a:gd fmla="val 18669" name="adj"/>
            </a:avLst>
          </a:prstGeom>
          <a:solidFill>
            <a:srgbClr val="CCEEFF"/>
          </a:solidFill>
          <a:ln cap="flat" cmpd="sng" w="9525">
            <a:solidFill>
              <a:srgbClr val="B2D4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1460540" y="6626066"/>
            <a:ext cx="2840355" cy="355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Petrona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Petrona"/>
                <a:ea typeface="Petrona"/>
                <a:cs typeface="Petrona"/>
                <a:sym typeface="Petrona"/>
              </a:rPr>
              <a:t>Contact Us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1460540" y="7110889"/>
            <a:ext cx="6926104" cy="346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Reach out for collaboration or queries: [Your Email IDs]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6" title="Screenshot (63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7100" y="7664300"/>
            <a:ext cx="2233301" cy="56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6"/>
          <p:cNvSpPr txBox="1"/>
          <p:nvPr/>
        </p:nvSpPr>
        <p:spPr>
          <a:xfrm>
            <a:off x="4933950" y="2914200"/>
            <a:ext cx="47625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sz="72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