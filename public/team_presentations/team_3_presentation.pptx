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inkml+xml" PartName="/ppt/ink/ink4.xml"/>
  <Override ContentType="application/inkml+xml" PartName="/ppt/ink/ink3.xml"/>
  <Override ContentType="application/inkml+xml" PartName="/ppt/ink/ink2.xml"/>
  <Override ContentType="application/inkml+xml" PartName="/ppt/ink/ink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8229600" cx="14630400"/>
  <p:notesSz cx="8229600" cy="146304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3T00:49:41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3T00:49:42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3T00:49:42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3T00:52:01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03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958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048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678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38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55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313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446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303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682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176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869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30909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782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770504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767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860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8802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675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005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674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6478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083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3890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2790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3987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5722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027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499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9516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935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324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54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5325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95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6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0" r:id="rId1"/>
    <p:sldLayoutId id="2147484371" r:id="rId2"/>
    <p:sldLayoutId id="2147484372" r:id="rId3"/>
    <p:sldLayoutId id="2147484373" r:id="rId4"/>
    <p:sldLayoutId id="2147484374" r:id="rId5"/>
    <p:sldLayoutId id="2147484375" r:id="rId6"/>
    <p:sldLayoutId id="2147484376" r:id="rId7"/>
    <p:sldLayoutId id="2147484377" r:id="rId8"/>
    <p:sldLayoutId id="2147484378" r:id="rId9"/>
    <p:sldLayoutId id="2147484379" r:id="rId10"/>
    <p:sldLayoutId id="2147484380" r:id="rId11"/>
    <p:sldLayoutId id="2147484381" r:id="rId12"/>
    <p:sldLayoutId id="2147484382" r:id="rId13"/>
    <p:sldLayoutId id="2147484383" r:id="rId14"/>
    <p:sldLayoutId id="2147484384" r:id="rId15"/>
    <p:sldLayoutId id="2147484385" r:id="rId16"/>
    <p:sldLayoutId id="2147484386" r:id="rId17"/>
    <p:sldLayoutId id="2147484387" r:id="rId18"/>
    <p:sldLayoutId id="2147484388" r:id="rId19"/>
    <p:sldLayoutId id="2147484389" r:id="rId20"/>
    <p:sldLayoutId id="2147484390" r:id="rId21"/>
    <p:sldLayoutId id="2147484391" r:id="rId22"/>
    <p:sldLayoutId id="2147484392" r:id="rId23"/>
    <p:sldLayoutId id="2147484393" r:id="rId24"/>
    <p:sldLayoutId id="2147484394" r:id="rId25"/>
    <p:sldLayoutId id="2147484395" r:id="rId26"/>
    <p:sldLayoutId id="2147484396" r:id="rId27"/>
    <p:sldLayoutId id="2147484397" r:id="rId28"/>
    <p:sldLayoutId id="2147484398" r:id="rId29"/>
    <p:sldLayoutId id="2147484399" r:id="rId30"/>
    <p:sldLayoutId id="2147484400" r:id="rId31"/>
    <p:sldLayoutId id="2147484401" r:id="rId32"/>
    <p:sldLayoutId id="2147484402" r:id="rId33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eg"/><Relationship Id="rId3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F99485-8E0F-F1B5-5B14-D3088654701A}"/>
              </a:ext>
            </a:extLst>
          </p:cNvPr>
          <p:cNvSpPr txBox="1"/>
          <p:nvPr/>
        </p:nvSpPr>
        <p:spPr>
          <a:xfrm>
            <a:off x="1301262" y="1354335"/>
            <a:ext cx="731520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Thinking and Innovation</a:t>
            </a:r>
            <a:endParaRPr lang="en-US" sz="4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26554-9FE5-8048-B0B1-D90E47D4B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738" y="1570170"/>
            <a:ext cx="5587739" cy="3650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FC88D8-F997-A796-A3D9-B4DCBFBA356D}"/>
              </a:ext>
            </a:extLst>
          </p:cNvPr>
          <p:cNvSpPr txBox="1"/>
          <p:nvPr/>
        </p:nvSpPr>
        <p:spPr>
          <a:xfrm>
            <a:off x="1699846" y="3685353"/>
            <a:ext cx="7315200" cy="2290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G. Hyma _23KD1A0234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Kavya Sri_23KD1A0261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Ch. Praveen _23KD1A0227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k. Rohith _24KD5A0208</a:t>
            </a: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843BE5-8CC2-6055-72EE-D7FAF1E41EBC}"/>
                  </a:ext>
                </a:extLst>
              </p14:cNvPr>
              <p14:cNvContentPartPr/>
              <p14:nvPr/>
            </p14:nvContentPartPr>
            <p14:xfrm>
              <a:off x="2239348" y="3727883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843BE5-8CC2-6055-72EE-D7FAF1E41E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3228" y="3721763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9F8C66E-A3D8-245B-5C80-2AC0E55A762C}"/>
              </a:ext>
            </a:extLst>
          </p:cNvPr>
          <p:cNvGrpSpPr/>
          <p:nvPr/>
        </p:nvGrpSpPr>
        <p:grpSpPr>
          <a:xfrm>
            <a:off x="2309548" y="3986003"/>
            <a:ext cx="360" cy="360"/>
            <a:chOff x="2309548" y="3986003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B1EDB2B-385D-ED4D-F1B6-024732FE500D}"/>
                    </a:ext>
                  </a:extLst>
                </p14:cNvPr>
                <p14:cNvContentPartPr/>
                <p14:nvPr/>
              </p14:nvContentPartPr>
              <p14:xfrm>
                <a:off x="2309548" y="3986003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B1EDB2B-385D-ED4D-F1B6-024732FE500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03428" y="397988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E5BF3E5-1DD3-E7F7-0EE4-FCC6E5ACFB0F}"/>
                    </a:ext>
                  </a:extLst>
                </p14:cNvPr>
                <p14:cNvContentPartPr/>
                <p14:nvPr/>
              </p14:nvContentPartPr>
              <p14:xfrm>
                <a:off x="2309548" y="3986003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E5BF3E5-1DD3-E7F7-0EE4-FCC6E5ACFB0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03428" y="397988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2AE6A3-5052-A132-CB54-1CE777CDCC0A}"/>
                  </a:ext>
                </a:extLst>
              </p14:cNvPr>
              <p14:cNvContentPartPr/>
              <p14:nvPr/>
            </p14:nvContentPartPr>
            <p14:xfrm>
              <a:off x="-574412" y="1324883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2AE6A3-5052-A132-CB54-1CE777CDCC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80532" y="131876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429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582EAD-68D4-31BE-9320-EB0426F3E3D6}"/>
              </a:ext>
            </a:extLst>
          </p:cNvPr>
          <p:cNvSpPr txBox="1"/>
          <p:nvPr/>
        </p:nvSpPr>
        <p:spPr>
          <a:xfrm>
            <a:off x="858715" y="958333"/>
            <a:ext cx="732106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Smart Water Leakage Detector using IoT</a:t>
            </a:r>
          </a:p>
          <a:p>
            <a:endParaRPr lang="en-US" sz="240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r>
              <a:rPr lang="en-US" sz="24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 THE GUIDENCE OF:</a:t>
            </a:r>
          </a:p>
          <a:p>
            <a:r>
              <a:rPr lang="en-US" sz="24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Mr. B. Ram Vara Prasad</a:t>
            </a:r>
            <a:r>
              <a:rPr lang="en-US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,[</a:t>
            </a:r>
            <a:r>
              <a:rPr lang="en-US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Ph.D</a:t>
            </a:r>
            <a:r>
              <a:rPr lang="en-US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]</a:t>
            </a:r>
          </a:p>
          <a:p>
            <a:r>
              <a:rPr lang="en-US" sz="24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Assistant Professor,</a:t>
            </a:r>
          </a:p>
          <a:p>
            <a:r>
              <a:rPr lang="en-US" sz="24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Dept. of EEE, LIET(A)</a:t>
            </a:r>
            <a:endParaRPr lang="en-US" sz="2400"/>
          </a:p>
          <a:p>
            <a:endParaRPr lang="en-IN" sz="12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78A4B0-C2FE-36A2-0740-809669FAA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301287"/>
            <a:ext cx="5882640" cy="536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306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32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Contents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27457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 to Design Thinking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793790" y="31878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Statement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Empathy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Ideate</a:t>
            </a:r>
            <a:endParaRPr lang="en-US" sz="1750"/>
          </a:p>
        </p:txBody>
      </p:sp>
      <p:sp>
        <p:nvSpPr>
          <p:cNvPr id="8" name="Text 6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6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Storyboarding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7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Prototype</a:t>
            </a:r>
            <a:endParaRPr lang="en-US" sz="1750"/>
          </a:p>
        </p:txBody>
      </p:sp>
      <p:sp>
        <p:nvSpPr>
          <p:cNvPr id="10" name="Text 8"/>
          <p:cNvSpPr/>
          <p:nvPr/>
        </p:nvSpPr>
        <p:spPr>
          <a:xfrm>
            <a:off x="793790" y="58410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8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Prototype Explanation</a:t>
            </a:r>
            <a:endParaRPr lang="en-US" sz="1750"/>
          </a:p>
        </p:txBody>
      </p:sp>
      <p:sp>
        <p:nvSpPr>
          <p:cNvPr id="11" name="Text 9"/>
          <p:cNvSpPr/>
          <p:nvPr/>
        </p:nvSpPr>
        <p:spPr>
          <a:xfrm>
            <a:off x="793790" y="62832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9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175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72DBF1-1B6C-153C-C994-E34037789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656" y="1840523"/>
            <a:ext cx="6011887" cy="436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0B45C2-D94B-BC1A-AF1C-10D7E207A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61" y="1422523"/>
            <a:ext cx="5125183" cy="49576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E370EE-1D63-AF3F-FA35-BA554A326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317" y="1618345"/>
            <a:ext cx="5694744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 to Design Thinking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793790" y="245078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25286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Human-centered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1530906" y="30190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real user needs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793790" y="38355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Iterative process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15309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Empathy, experimentation, collaboration</a:t>
            </a:r>
            <a:endParaRPr lang="en-US" sz="1750"/>
          </a:p>
        </p:txBody>
      </p:sp>
      <p:sp>
        <p:nvSpPr>
          <p:cNvPr id="10" name="Shape 7"/>
          <p:cNvSpPr/>
          <p:nvPr/>
        </p:nvSpPr>
        <p:spPr>
          <a:xfrm>
            <a:off x="793790" y="52204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298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Proven success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1530906" y="578870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by IDEO, Google, Apple</a:t>
            </a:r>
            <a:endParaRPr lang="en-US" sz="1750"/>
          </a:p>
        </p:txBody>
      </p:sp>
      <p:sp>
        <p:nvSpPr>
          <p:cNvPr id="13" name="Shape 10"/>
          <p:cNvSpPr/>
          <p:nvPr/>
        </p:nvSpPr>
        <p:spPr>
          <a:xfrm>
            <a:off x="793790" y="660523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1530906" y="6683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Academic roots</a:t>
            </a:r>
            <a:endParaRPr lang="en-US" sz="2200"/>
          </a:p>
        </p:txBody>
      </p:sp>
      <p:sp>
        <p:nvSpPr>
          <p:cNvPr id="15" name="Text 12"/>
          <p:cNvSpPr/>
          <p:nvPr/>
        </p:nvSpPr>
        <p:spPr>
          <a:xfrm>
            <a:off x="1530906" y="71735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Stanford d.school leads research</a:t>
            </a:r>
            <a:endParaRPr lang="en-US" sz="175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6CEF8E-7D58-4234-183D-5B49F0FAB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913676"/>
            <a:ext cx="5662247" cy="6353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2711" y="576858"/>
            <a:ext cx="76785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Statement: Water Leakage</a:t>
            </a:r>
            <a:endParaRPr lang="en-US" sz="4100"/>
          </a:p>
        </p:txBody>
      </p:sp>
      <p:sp>
        <p:nvSpPr>
          <p:cNvPr id="4" name="Shape 1"/>
          <p:cNvSpPr/>
          <p:nvPr/>
        </p:nvSpPr>
        <p:spPr>
          <a:xfrm>
            <a:off x="732711" y="2199323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942023" y="240863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Water loss</a:t>
            </a:r>
            <a:endParaRPr lang="en-US" sz="2050"/>
          </a:p>
        </p:txBody>
      </p:sp>
      <p:sp>
        <p:nvSpPr>
          <p:cNvPr id="6" name="Text 3"/>
          <p:cNvSpPr/>
          <p:nvPr/>
        </p:nvSpPr>
        <p:spPr>
          <a:xfrm>
            <a:off x="942023" y="2861310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20-30% of treated water wasted (AWWA)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801512" y="3698678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42023" y="3824288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Damage</a:t>
            </a:r>
            <a:endParaRPr lang="en-US" sz="2050"/>
          </a:p>
        </p:txBody>
      </p:sp>
      <p:sp>
        <p:nvSpPr>
          <p:cNvPr id="9" name="Text 6"/>
          <p:cNvSpPr/>
          <p:nvPr/>
        </p:nvSpPr>
        <p:spPr>
          <a:xfrm>
            <a:off x="942023" y="4276963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Property damage, mold, costly repairs</a:t>
            </a:r>
            <a:endParaRPr lang="en-US" sz="1600"/>
          </a:p>
        </p:txBody>
      </p:sp>
      <p:sp>
        <p:nvSpPr>
          <p:cNvPr id="10" name="Shape 7"/>
          <p:cNvSpPr/>
          <p:nvPr/>
        </p:nvSpPr>
        <p:spPr>
          <a:xfrm>
            <a:off x="732711" y="5030629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942023" y="523994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solutions</a:t>
            </a:r>
            <a:endParaRPr lang="en-US" sz="2050"/>
          </a:p>
        </p:txBody>
      </p:sp>
      <p:sp>
        <p:nvSpPr>
          <p:cNvPr id="12" name="Text 9"/>
          <p:cNvSpPr/>
          <p:nvPr/>
        </p:nvSpPr>
        <p:spPr>
          <a:xfrm>
            <a:off x="942023" y="5692616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Mostly reactive and localized fixes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>
          <a:xfrm>
            <a:off x="732711" y="6446282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942023" y="665559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Economic impact</a:t>
            </a:r>
            <a:endParaRPr lang="en-US" sz="2050"/>
          </a:p>
        </p:txBody>
      </p:sp>
      <p:sp>
        <p:nvSpPr>
          <p:cNvPr id="15" name="Text 12"/>
          <p:cNvSpPr/>
          <p:nvPr/>
        </p:nvSpPr>
        <p:spPr>
          <a:xfrm>
            <a:off x="942023" y="7108269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$13B spent yearly on damage restoration (US)</a:t>
            </a:r>
            <a:endParaRPr lang="en-US" sz="16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783948-9F9E-2DC9-0423-1A1146FC3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801" y="2199323"/>
            <a:ext cx="5978481" cy="5036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857" y="1222409"/>
            <a:ext cx="98848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Empathy: Understanding User Needs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452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Research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93790" y="40340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Interviews with homeowners, plumbers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90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pain: undetected leaks, high costs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10649619" y="2962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Goals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10407664" y="36711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leak detection</a:t>
            </a:r>
            <a:endParaRPr lang="en-US" sz="1750"/>
          </a:p>
        </p:txBody>
      </p:sp>
      <p:sp>
        <p:nvSpPr>
          <p:cNvPr id="8" name="Text 6"/>
          <p:cNvSpPr/>
          <p:nvPr/>
        </p:nvSpPr>
        <p:spPr>
          <a:xfrm>
            <a:off x="10362499" y="42948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Remote monitoring via app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10407664" y="483917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repair expenses</a:t>
            </a:r>
            <a:endParaRPr lang="en-US" sz="1750"/>
          </a:p>
        </p:txBody>
      </p:sp>
      <p:sp>
        <p:nvSpPr>
          <p:cNvPr id="10" name="Text 8"/>
          <p:cNvSpPr/>
          <p:nvPr/>
        </p:nvSpPr>
        <p:spPr>
          <a:xfrm>
            <a:off x="10407664" y="5499275"/>
            <a:ext cx="72874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70% unaware of hidden leaks</a:t>
            </a:r>
            <a:endParaRPr lang="en-US" sz="175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B145D47-FDDE-CCCB-9A98-A06F45ABD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84" y="2547776"/>
            <a:ext cx="4763438" cy="385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494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Define: Smart Water Leakage Detector</a:t>
            </a:r>
            <a:endParaRPr lang="en-US" sz="445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80714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60093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Sensors</a:t>
            </a:r>
            <a:endParaRPr lang="en-US" sz="2200"/>
          </a:p>
        </p:txBody>
      </p:sp>
      <p:sp>
        <p:nvSpPr>
          <p:cNvPr id="6" name="Text 2"/>
          <p:cNvSpPr/>
          <p:nvPr/>
        </p:nvSpPr>
        <p:spPr>
          <a:xfrm>
            <a:off x="6280190" y="5091351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Moisture, flow, pressure, sound detection</a:t>
            </a:r>
            <a:endParaRPr lang="en-US" sz="17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493" y="3807143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460093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Alerts</a:t>
            </a:r>
            <a:endParaRPr lang="en-US" sz="2200"/>
          </a:p>
        </p:txBody>
      </p:sp>
      <p:sp>
        <p:nvSpPr>
          <p:cNvPr id="9" name="Text 4"/>
          <p:cNvSpPr/>
          <p:nvPr/>
        </p:nvSpPr>
        <p:spPr>
          <a:xfrm>
            <a:off x="8893493" y="5091351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Notifications via app, SMS, email</a:t>
            </a:r>
            <a:endParaRPr lang="en-US" sz="175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795" y="3807143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460093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Integrations</a:t>
            </a:r>
            <a:endParaRPr lang="en-US" sz="2200"/>
          </a:p>
        </p:txBody>
      </p:sp>
      <p:sp>
        <p:nvSpPr>
          <p:cNvPr id="12" name="Text 6"/>
          <p:cNvSpPr/>
          <p:nvPr/>
        </p:nvSpPr>
        <p:spPr>
          <a:xfrm>
            <a:off x="11506795" y="5091351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with Nest, SmartThings systems</a:t>
            </a:r>
            <a:endParaRPr lang="en-US" sz="17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93790" y="368272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" name="Text 1"/>
          <p:cNvSpPr/>
          <p:nvPr/>
        </p:nvSpPr>
        <p:spPr>
          <a:xfrm>
            <a:off x="878860" y="372522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/>
          </a:p>
        </p:txBody>
      </p:sp>
      <p:sp>
        <p:nvSpPr>
          <p:cNvPr id="5" name="Text 2"/>
          <p:cNvSpPr/>
          <p:nvPr/>
        </p:nvSpPr>
        <p:spPr>
          <a:xfrm>
            <a:off x="1530906" y="3760589"/>
            <a:ext cx="342149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inspired the smart water leakage detector idea?</a:t>
            </a:r>
            <a:endParaRPr lang="en-US" sz="2200"/>
          </a:p>
        </p:txBody>
      </p:sp>
      <p:sp>
        <p:nvSpPr>
          <p:cNvPr id="6" name="Shape 3"/>
          <p:cNvSpPr/>
          <p:nvPr/>
        </p:nvSpPr>
        <p:spPr>
          <a:xfrm>
            <a:off x="5235893" y="368272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5320963" y="372522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/>
          </a:p>
        </p:txBody>
      </p:sp>
      <p:sp>
        <p:nvSpPr>
          <p:cNvPr id="8" name="Text 5"/>
          <p:cNvSpPr/>
          <p:nvPr/>
        </p:nvSpPr>
        <p:spPr>
          <a:xfrm>
            <a:off x="5973008" y="3760589"/>
            <a:ext cx="342149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did you identify key user needs and pain points?</a:t>
            </a:r>
            <a:endParaRPr lang="en-US" sz="2200"/>
          </a:p>
        </p:txBody>
      </p:sp>
      <p:sp>
        <p:nvSpPr>
          <p:cNvPr id="9" name="Shape 6"/>
          <p:cNvSpPr/>
          <p:nvPr/>
        </p:nvSpPr>
        <p:spPr>
          <a:xfrm>
            <a:off x="9677995" y="368272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0" name="Text 7"/>
          <p:cNvSpPr/>
          <p:nvPr/>
        </p:nvSpPr>
        <p:spPr>
          <a:xfrm>
            <a:off x="9763065" y="372522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/>
          </a:p>
        </p:txBody>
      </p:sp>
      <p:sp>
        <p:nvSpPr>
          <p:cNvPr id="11" name="Text 8"/>
          <p:cNvSpPr/>
          <p:nvPr/>
        </p:nvSpPr>
        <p:spPr>
          <a:xfrm>
            <a:off x="10415111" y="3760589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insights arose from the empathy research?</a:t>
            </a:r>
            <a:endParaRPr lang="en-US" sz="2200"/>
          </a:p>
        </p:txBody>
      </p:sp>
      <p:sp>
        <p:nvSpPr>
          <p:cNvPr id="12" name="Shape 9"/>
          <p:cNvSpPr/>
          <p:nvPr/>
        </p:nvSpPr>
        <p:spPr>
          <a:xfrm>
            <a:off x="793790" y="527720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531971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650"/>
          </a:p>
        </p:txBody>
      </p:sp>
      <p:sp>
        <p:nvSpPr>
          <p:cNvPr id="14" name="Text 11"/>
          <p:cNvSpPr/>
          <p:nvPr/>
        </p:nvSpPr>
        <p:spPr>
          <a:xfrm>
            <a:off x="1530906" y="5355074"/>
            <a:ext cx="342149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were core features and functionality chosen?</a:t>
            </a:r>
            <a:endParaRPr lang="en-US" sz="2200"/>
          </a:p>
        </p:txBody>
      </p:sp>
      <p:sp>
        <p:nvSpPr>
          <p:cNvPr id="15" name="Shape 12"/>
          <p:cNvSpPr/>
          <p:nvPr/>
        </p:nvSpPr>
        <p:spPr>
          <a:xfrm>
            <a:off x="5235893" y="527720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6" name="Text 13"/>
          <p:cNvSpPr/>
          <p:nvPr/>
        </p:nvSpPr>
        <p:spPr>
          <a:xfrm>
            <a:off x="5320963" y="531971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650"/>
          </a:p>
        </p:txBody>
      </p:sp>
      <p:sp>
        <p:nvSpPr>
          <p:cNvPr id="17" name="Text 14"/>
          <p:cNvSpPr/>
          <p:nvPr/>
        </p:nvSpPr>
        <p:spPr>
          <a:xfrm>
            <a:off x="5973008" y="5355074"/>
            <a:ext cx="342149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challenges came up during prototyping and testing?</a:t>
            </a:r>
            <a:endParaRPr lang="en-US" sz="2200"/>
          </a:p>
        </p:txBody>
      </p:sp>
      <p:sp>
        <p:nvSpPr>
          <p:cNvPr id="18" name="Shape 15"/>
          <p:cNvSpPr/>
          <p:nvPr/>
        </p:nvSpPr>
        <p:spPr>
          <a:xfrm>
            <a:off x="9677995" y="527720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9" name="Text 16"/>
          <p:cNvSpPr/>
          <p:nvPr/>
        </p:nvSpPr>
        <p:spPr>
          <a:xfrm>
            <a:off x="9763065" y="531971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2650"/>
          </a:p>
        </p:txBody>
      </p:sp>
      <p:sp>
        <p:nvSpPr>
          <p:cNvPr id="20" name="Text 17"/>
          <p:cNvSpPr/>
          <p:nvPr/>
        </p:nvSpPr>
        <p:spPr>
          <a:xfrm>
            <a:off x="10415111" y="5355074"/>
            <a:ext cx="342149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does the IoT connectivity and alert system operate?</a:t>
            </a:r>
            <a:endParaRPr lang="en-US" sz="2200"/>
          </a:p>
        </p:txBody>
      </p:sp>
      <p:sp>
        <p:nvSpPr>
          <p:cNvPr id="21" name="Shape 18"/>
          <p:cNvSpPr/>
          <p:nvPr/>
        </p:nvSpPr>
        <p:spPr>
          <a:xfrm>
            <a:off x="793790" y="68716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22" name="Text 19"/>
          <p:cNvSpPr/>
          <p:nvPr/>
        </p:nvSpPr>
        <p:spPr>
          <a:xfrm>
            <a:off x="878860" y="69141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</a:t>
            </a:r>
            <a:endParaRPr lang="en-US" sz="2650"/>
          </a:p>
        </p:txBody>
      </p:sp>
      <p:sp>
        <p:nvSpPr>
          <p:cNvPr id="23" name="Text 20"/>
          <p:cNvSpPr/>
          <p:nvPr/>
        </p:nvSpPr>
        <p:spPr>
          <a:xfrm>
            <a:off x="1530906" y="6949559"/>
            <a:ext cx="61144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are the next steps to refine the detector?</a:t>
            </a:r>
            <a:endParaRPr lang="en-US" sz="2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5A981-9B9A-D274-2BDF-F1CF3C5D02C1}"/>
              </a:ext>
            </a:extLst>
          </p:cNvPr>
          <p:cNvSpPr txBox="1"/>
          <p:nvPr/>
        </p:nvSpPr>
        <p:spPr>
          <a:xfrm>
            <a:off x="2397760" y="1426041"/>
            <a:ext cx="85420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/>
              <a:t>🗣️ </a:t>
            </a:r>
            <a:r>
              <a:rPr lang="en-US" sz="4000" b="1"/>
              <a:t>INTERVIEW QUESTIONS</a:t>
            </a:r>
            <a:r>
              <a:rPr lang="en-US" sz="4000"/>
              <a:t> ❓</a:t>
            </a:r>
            <a:br>
              <a:rPr lang="en-US" sz="4000"/>
            </a:br>
            <a:endParaRPr lang="en-IN"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4769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Insights on Water Leakage Detection</a:t>
            </a:r>
            <a:endParaRPr lang="en-US" sz="3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892969"/>
            <a:ext cx="2835235" cy="17522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73755" y="1645645"/>
            <a:ext cx="1085981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Investigating root causes of water leakage using IoT smart detection.</a:t>
            </a:r>
            <a:endParaRPr lang="en-US" sz="20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35" y="2872026"/>
            <a:ext cx="2835235" cy="17522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73755" y="3402743"/>
            <a:ext cx="1085981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Undetected leaks cause property damage, mold, and high utility bills</a:t>
            </a:r>
            <a:r>
              <a:rPr lang="en-US" sz="8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35" y="4851083"/>
            <a:ext cx="2835235" cy="17522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99532" y="5519367"/>
            <a:ext cx="1085981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user frustrations is vital for effective solutions</a:t>
            </a:r>
            <a:r>
              <a:rPr lang="en-US" sz="8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5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35" y="6830139"/>
            <a:ext cx="2835235" cy="175224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509222" y="6920864"/>
            <a:ext cx="1085981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sensors offer early alerts for faster response and less damage</a:t>
            </a:r>
            <a:r>
              <a:rPr lang="en-US" sz="8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5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835" y="8809196"/>
            <a:ext cx="2835235" cy="175224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373755" y="8809196"/>
            <a:ext cx="1085981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Prototyping enables validation and feedback for design improvement.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9003"/>
            <a:ext cx="60739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Ideate &amp; Storyboarding</a:t>
            </a:r>
            <a:endParaRPr lang="en-US" sz="445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Brainstorm sensors</a:t>
            </a:r>
            <a:endParaRPr lang="en-US" sz="2200"/>
          </a:p>
        </p:txBody>
      </p:sp>
      <p:sp>
        <p:nvSpPr>
          <p:cNvPr id="6" name="Text 2"/>
          <p:cNvSpPr/>
          <p:nvPr/>
        </p:nvSpPr>
        <p:spPr>
          <a:xfrm>
            <a:off x="7754422" y="331517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Moisture, pressure, sound technologies</a:t>
            </a:r>
            <a:endParaRPr lang="en-US" sz="17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Alert mechanisms</a:t>
            </a:r>
            <a:endParaRPr lang="en-US" sz="2200"/>
          </a:p>
        </p:txBody>
      </p:sp>
      <p:sp>
        <p:nvSpPr>
          <p:cNvPr id="9" name="Text 4"/>
          <p:cNvSpPr/>
          <p:nvPr/>
        </p:nvSpPr>
        <p:spPr>
          <a:xfrm>
            <a:off x="7754422" y="467606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Push notifications, SMS, email</a:t>
            </a:r>
            <a:endParaRPr lang="en-US" sz="175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Storyboard</a:t>
            </a:r>
            <a:endParaRPr lang="en-US" sz="2200"/>
          </a:p>
        </p:txBody>
      </p:sp>
      <p:sp>
        <p:nvSpPr>
          <p:cNvPr id="12" name="Text 6"/>
          <p:cNvSpPr/>
          <p:nvPr/>
        </p:nvSpPr>
        <p:spPr>
          <a:xfrm>
            <a:off x="7754422" y="603694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Pressure drop triggers alert, user checks app</a:t>
            </a:r>
            <a:endParaRPr lang="en-US" sz="17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2CF8662F-24B3-679E-7FA8-7D1E3F61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820" y="2026920"/>
            <a:ext cx="4094480" cy="398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20FE8E-3A87-575B-0EA2-22BA9FC9758A}"/>
              </a:ext>
            </a:extLst>
          </p:cNvPr>
          <p:cNvSpPr txBox="1"/>
          <p:nvPr/>
        </p:nvSpPr>
        <p:spPr>
          <a:xfrm>
            <a:off x="1305560" y="892294"/>
            <a:ext cx="7320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1.Why</a:t>
            </a:r>
            <a:r>
              <a:rPr lang="en-US" sz="2400"/>
              <a:t> did water damage occur?</a:t>
            </a:r>
            <a:endParaRPr lang="en-IN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3278B-C7BF-3286-FB15-9504BAF54C93}"/>
              </a:ext>
            </a:extLst>
          </p:cNvPr>
          <p:cNvSpPr txBox="1"/>
          <p:nvPr/>
        </p:nvSpPr>
        <p:spPr>
          <a:xfrm>
            <a:off x="1305560" y="1911588"/>
            <a:ext cx="7320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2.Why do we need a water leakage detection system?</a:t>
            </a:r>
            <a:endParaRPr lang="en-IN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ECBD6-37E2-4AF5-B7EF-13DE3AD4A22D}"/>
              </a:ext>
            </a:extLst>
          </p:cNvPr>
          <p:cNvSpPr txBox="1"/>
          <p:nvPr/>
        </p:nvSpPr>
        <p:spPr>
          <a:xfrm>
            <a:off x="1305560" y="2783988"/>
            <a:ext cx="7319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3.Why should buildings invest in this technology?</a:t>
            </a:r>
            <a:endParaRPr lang="en-IN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98F73E-D0BB-90E5-ED76-E6B9EAB65F6C}"/>
              </a:ext>
            </a:extLst>
          </p:cNvPr>
          <p:cNvSpPr txBox="1"/>
          <p:nvPr/>
        </p:nvSpPr>
        <p:spPr>
          <a:xfrm>
            <a:off x="1230630" y="3997960"/>
            <a:ext cx="7319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4.Why is water conservation important today?</a:t>
            </a:r>
          </a:p>
          <a:p>
            <a:endParaRPr lang="en-US" sz="2400"/>
          </a:p>
          <a:p>
            <a:r>
              <a:rPr lang="en-US" sz="2400"/>
              <a:t> 5.Why is real-time detection important?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869691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0" name="Shape 9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Google Shape;922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78298" y="829340"/>
            <a:ext cx="4690873" cy="596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2" name="Google Shape;92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829339"/>
            <a:ext cx="5050463" cy="5964870"/>
          </a:xfrm>
          <a:prstGeom prst="rect">
            <a:avLst/>
          </a:prstGeom>
          <a:noFill/>
          <a:ln>
            <a:noFill/>
          </a:ln>
        </p:spPr>
      </p:pic>
      <p:sp>
        <p:nvSpPr>
          <p:cNvPr id="9223" name="Google Shape;9223;p1"/>
          <p:cNvSpPr txBox="1"/>
          <p:nvPr/>
        </p:nvSpPr>
        <p:spPr>
          <a:xfrm flipH="1">
            <a:off x="2050450" y="6080100"/>
            <a:ext cx="32697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Circuit diagram </a:t>
            </a:r>
            <a:endParaRPr sz="216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24" name="Google Shape;9224;p1"/>
          <p:cNvSpPr txBox="1"/>
          <p:nvPr/>
        </p:nvSpPr>
        <p:spPr>
          <a:xfrm rot="-609159">
            <a:off x="9147553" y="5883991"/>
            <a:ext cx="2030393" cy="5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6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25" name="Google Shape;9225;p1"/>
          <p:cNvSpPr txBox="1"/>
          <p:nvPr/>
        </p:nvSpPr>
        <p:spPr>
          <a:xfrm flipH="1" rot="945178">
            <a:off x="9355568" y="6495354"/>
            <a:ext cx="3300669" cy="5214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6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26" name="Google Shape;9226;p1"/>
          <p:cNvSpPr txBox="1"/>
          <p:nvPr/>
        </p:nvSpPr>
        <p:spPr>
          <a:xfrm>
            <a:off x="8623075" y="7156342"/>
            <a:ext cx="43806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Prototype </a:t>
            </a:r>
            <a:endParaRPr sz="216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990" y="1232733"/>
            <a:ext cx="64834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Prototype &amp; Explanation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610910" y="2692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Hardware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610910" y="349500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 32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610910" y="401704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 flow sensors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3915310" y="2710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Software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3878975" y="339312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++ code</a:t>
            </a:r>
            <a:endParaRPr lang="en-US" sz="1750"/>
          </a:p>
        </p:txBody>
      </p:sp>
      <p:sp>
        <p:nvSpPr>
          <p:cNvPr id="8" name="Text 6"/>
          <p:cNvSpPr/>
          <p:nvPr/>
        </p:nvSpPr>
        <p:spPr>
          <a:xfrm>
            <a:off x="3878975" y="401704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IoT platform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3938289" y="4618236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</a:t>
            </a:r>
            <a:endParaRPr lang="en-US" sz="1750"/>
          </a:p>
        </p:txBody>
      </p:sp>
      <p:sp>
        <p:nvSpPr>
          <p:cNvPr id="10" name="Text 8"/>
          <p:cNvSpPr/>
          <p:nvPr/>
        </p:nvSpPr>
        <p:spPr>
          <a:xfrm>
            <a:off x="6972419" y="26890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benefits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6874867" y="337177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data</a:t>
            </a:r>
            <a:endParaRPr lang="en-US" sz="1750"/>
          </a:p>
        </p:txBody>
      </p:sp>
      <p:sp>
        <p:nvSpPr>
          <p:cNvPr id="12" name="Text 10"/>
          <p:cNvSpPr/>
          <p:nvPr/>
        </p:nvSpPr>
        <p:spPr>
          <a:xfrm>
            <a:off x="6874867" y="401704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pattern recognition</a:t>
            </a:r>
            <a:endParaRPr lang="en-US" sz="1750"/>
          </a:p>
        </p:txBody>
      </p:sp>
      <p:sp>
        <p:nvSpPr>
          <p:cNvPr id="13" name="Text 11"/>
          <p:cNvSpPr/>
          <p:nvPr/>
        </p:nvSpPr>
        <p:spPr>
          <a:xfrm>
            <a:off x="6874867" y="461823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Cost-effective </a:t>
            </a:r>
            <a:endParaRPr lang="en-US" sz="17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E1B70A-A962-FF97-0A35-D8F08CCF3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077" y="822325"/>
            <a:ext cx="4733925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010126"/>
            <a:ext cx="6209348" cy="62093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25023" y="1777755"/>
            <a:ext cx="4115321" cy="4006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system uses an ESP32 microcontroller as the brain, which connects to water flow sensors that monitor water usage in real-time.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A relay module controls the water pump, turning it on/off based on programmed conditions.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Water pipes connect the components in a physical flow system. 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ESP32 provides wireless connectivity .</a:t>
            </a:r>
            <a:endParaRPr lang="en-US" sz="17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010126"/>
            <a:ext cx="7787640" cy="62092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31035" y="959048"/>
            <a:ext cx="46130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3F6E5-DA43-1C6F-F504-575DBF837F87}"/>
              </a:ext>
            </a:extLst>
          </p:cNvPr>
          <p:cNvSpPr txBox="1"/>
          <p:nvPr/>
        </p:nvSpPr>
        <p:spPr>
          <a:xfrm>
            <a:off x="9506043" y="3411793"/>
            <a:ext cx="4209957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ESP32 is a low-cost System on Chip (SoC) Microcontroller from </a:t>
            </a:r>
            <a:r>
              <a:rPr lang="en-US" b="0" i="0" err="1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Espressif</a:t>
            </a:r>
            <a:r>
              <a:rPr lang="en-US" b="0" i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 Systems, the developers of the famous ESP8266 </a:t>
            </a:r>
            <a:r>
              <a:rPr lang="en-US" b="0" i="0" err="1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SoC.</a:t>
            </a:r>
            <a:r>
              <a:rPr lang="en-US" b="0" i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 </a:t>
            </a:r>
          </a:p>
          <a:p>
            <a:pPr algn="l" fontAlgn="t">
              <a:spcAft>
                <a:spcPts val="300"/>
              </a:spcAft>
            </a:pPr>
            <a:endParaRPr lang="en-US" b="0" i="0">
              <a:solidFill>
                <a:srgbClr val="000000"/>
              </a:solidFill>
              <a:effectLst/>
              <a:latin typeface="Roboto" panose="020F0502020204030204" pitchFamily="2" charset="0"/>
            </a:endParaRPr>
          </a:p>
          <a:p>
            <a:pPr algn="l" fontAlgn="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It is a successor to ESP8266 SoC and comes in both single-core and dual-core variations of the Tensilica’s 32-bit Xtensa LX6 Microprocessor with integrated Wi-Fi and Bluetooth.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20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02" y="2104430"/>
            <a:ext cx="3978116" cy="39781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3093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931442" y="666369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/>
              <a:t>Water flow sensor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928" y="2076093"/>
            <a:ext cx="3978116" cy="39781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0581" y="65361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/>
              <a:t>Relay module</a:t>
            </a:r>
          </a:p>
        </p:txBody>
      </p:sp>
      <p:sp>
        <p:nvSpPr>
          <p:cNvPr id="8" name="Text 4"/>
          <p:cNvSpPr/>
          <p:nvPr/>
        </p:nvSpPr>
        <p:spPr>
          <a:xfrm>
            <a:off x="5332928" y="6890504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2067" y="2076093"/>
            <a:ext cx="3978116" cy="39781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80221" y="64908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/>
              <a:t>Watering pump</a:t>
            </a:r>
          </a:p>
        </p:txBody>
      </p:sp>
      <p:sp>
        <p:nvSpPr>
          <p:cNvPr id="11" name="Text 6"/>
          <p:cNvSpPr/>
          <p:nvPr/>
        </p:nvSpPr>
        <p:spPr>
          <a:xfrm>
            <a:off x="9872067" y="6890504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73079"/>
            <a:ext cx="6244709" cy="46834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9521" y="34768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7599521" y="44124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BA60779-7FAB-60CA-8CB1-254B9EAE2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431" y="2605547"/>
            <a:ext cx="5143799" cy="40508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74E2AC-98CC-4EB9-373C-078FD8AE9071}"/>
              </a:ext>
            </a:extLst>
          </p:cNvPr>
          <p:cNvSpPr txBox="1"/>
          <p:nvPr/>
        </p:nvSpPr>
        <p:spPr>
          <a:xfrm>
            <a:off x="798543" y="754956"/>
            <a:ext cx="73201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>
                <a:latin typeface="Algerian" panose="04020705040A02060702" pitchFamily="82" charset="0"/>
              </a:rPr>
              <a:t>Project Applications :</a:t>
            </a:r>
            <a:endParaRPr lang="en-IN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1D0AB-6EB8-8EE6-A692-42C47A12D216}"/>
              </a:ext>
            </a:extLst>
          </p:cNvPr>
          <p:cNvSpPr txBox="1"/>
          <p:nvPr/>
        </p:nvSpPr>
        <p:spPr>
          <a:xfrm>
            <a:off x="981259" y="2734885"/>
            <a:ext cx="73202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/>
              <a:t>Used in  residential ,</a:t>
            </a:r>
            <a:r>
              <a:rPr lang="en-IN" sz="3600" err="1"/>
              <a:t>commericial</a:t>
            </a:r>
            <a:r>
              <a:rPr lang="en-IN" sz="3600"/>
              <a:t> and industrial buildings</a:t>
            </a:r>
          </a:p>
          <a:p>
            <a:endParaRPr lang="en-IN" sz="3600"/>
          </a:p>
          <a:p>
            <a:r>
              <a:rPr lang="en-IN" sz="3600"/>
              <a:t>Prevents water leakage and reduces damage to infrastructure</a:t>
            </a:r>
          </a:p>
          <a:p>
            <a:endParaRPr lang="en-IN" sz="3600"/>
          </a:p>
          <a:p>
            <a:r>
              <a:rPr lang="en-IN" sz="3600"/>
              <a:t>Remote monitoring using IOT alerts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20912ED-F016-DC15-A0FE-280FFD665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361440"/>
            <a:ext cx="5770880" cy="485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576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0297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793790" y="307871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156585"/>
            <a:ext cx="28869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monitoring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1530906" y="364700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leaks early, prevents losses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4713803" y="307871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3156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Damage prevention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5450919" y="364700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Saves property and reduces bills</a:t>
            </a:r>
            <a:endParaRPr lang="en-US" sz="1750"/>
          </a:p>
        </p:txBody>
      </p:sp>
      <p:sp>
        <p:nvSpPr>
          <p:cNvPr id="10" name="Shape 7"/>
          <p:cNvSpPr/>
          <p:nvPr/>
        </p:nvSpPr>
        <p:spPr>
          <a:xfrm>
            <a:off x="793790" y="482643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49043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scope</a:t>
            </a:r>
            <a:endParaRPr lang="en-US" sz="2200"/>
          </a:p>
        </p:txBody>
      </p:sp>
      <p:sp>
        <p:nvSpPr>
          <p:cNvPr id="12" name="Text 9"/>
          <p:cNvSpPr/>
          <p:nvPr/>
        </p:nvSpPr>
        <p:spPr>
          <a:xfrm>
            <a:off x="1530906" y="539472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 shut-off valves</a:t>
            </a:r>
            <a:endParaRPr lang="en-US" sz="1750"/>
          </a:p>
        </p:txBody>
      </p:sp>
      <p:sp>
        <p:nvSpPr>
          <p:cNvPr id="13" name="Text 10"/>
          <p:cNvSpPr/>
          <p:nvPr/>
        </p:nvSpPr>
        <p:spPr>
          <a:xfrm>
            <a:off x="1530906" y="583692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home integration</a:t>
            </a:r>
            <a:endParaRPr lang="en-US" sz="175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E5A5190-58A7-829B-5996-6EB1E5CF5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690" y="1692592"/>
            <a:ext cx="5166360" cy="5134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en-US" sz="445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AFC370F-1E00-99BD-80AF-1D648AB1F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040"/>
            <a:ext cx="14630400" cy="688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